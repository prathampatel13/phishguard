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am Patel" userId="f0d4525a813d7a18" providerId="LiveId" clId="{8D455AB3-5F29-48E8-9B4D-1631BE706A6A}"/>
    <pc:docChg chg="modSld">
      <pc:chgData name="Pratham Patel" userId="f0d4525a813d7a18" providerId="LiveId" clId="{8D455AB3-5F29-48E8-9B4D-1631BE706A6A}" dt="2026-08-07T13:40:46.994" v="118" actId="20577"/>
      <pc:docMkLst>
        <pc:docMk/>
      </pc:docMkLst>
      <pc:sldChg chg="modSp mod">
        <pc:chgData name="Pratham Patel" userId="f0d4525a813d7a18" providerId="LiveId" clId="{8D455AB3-5F29-48E8-9B4D-1631BE706A6A}" dt="2026-08-07T13:40:46.994" v="118" actId="20577"/>
        <pc:sldMkLst>
          <pc:docMk/>
          <pc:sldMk cId="0" sldId="256"/>
        </pc:sldMkLst>
        <pc:spChg chg="mod">
          <ac:chgData name="Pratham Patel" userId="f0d4525a813d7a18" providerId="LiveId" clId="{8D455AB3-5F29-48E8-9B4D-1631BE706A6A}" dt="2026-08-07T13:39:26.179" v="20" actId="20577"/>
          <ac:spMkLst>
            <pc:docMk/>
            <pc:sldMk cId="0" sldId="256"/>
            <ac:spMk id="12" creationId="{00000000-0000-0000-0000-000000000000}"/>
          </ac:spMkLst>
        </pc:spChg>
        <pc:spChg chg="mod">
          <ac:chgData name="Pratham Patel" userId="f0d4525a813d7a18" providerId="LiveId" clId="{8D455AB3-5F29-48E8-9B4D-1631BE706A6A}" dt="2026-08-07T13:40:46.994" v="118" actId="20577"/>
          <ac:spMkLst>
            <pc:docMk/>
            <pc:sldMk cId="0" sldId="256"/>
            <ac:spMk id="14" creationId="{00000000-0000-0000-0000-000000000000}"/>
          </ac:spMkLst>
        </pc:spChg>
        <pc:spChg chg="mod">
          <ac:chgData name="Pratham Patel" userId="f0d4525a813d7a18" providerId="LiveId" clId="{8D455AB3-5F29-48E8-9B4D-1631BE706A6A}" dt="2026-08-07T13:40:31.015" v="96" actId="20577"/>
          <ac:spMkLst>
            <pc:docMk/>
            <pc:sldMk cId="0" sldId="256"/>
            <ac:spMk id="16" creationId="{00000000-0000-0000-0000-000000000000}"/>
          </ac:spMkLst>
        </pc:spChg>
        <pc:spChg chg="mod">
          <ac:chgData name="Pratham Patel" userId="f0d4525a813d7a18" providerId="LiveId" clId="{8D455AB3-5F29-48E8-9B4D-1631BE706A6A}" dt="2026-08-07T13:39:39.455" v="31" actId="20577"/>
          <ac:spMkLst>
            <pc:docMk/>
            <pc:sldMk cId="0" sldId="256"/>
            <ac:spMk id="17" creationId="{00000000-0000-0000-0000-000000000000}"/>
          </ac:spMkLst>
        </pc:spChg>
        <pc:spChg chg="mod">
          <ac:chgData name="Pratham Patel" userId="f0d4525a813d7a18" providerId="LiveId" clId="{8D455AB3-5F29-48E8-9B4D-1631BE706A6A}" dt="2026-08-07T13:39:54.580" v="50" actId="20577"/>
          <ac:spMkLst>
            <pc:docMk/>
            <pc:sldMk cId="0" sldId="256"/>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9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[Your Name], and today I will be presenting my mini project called PhishGuard - a Phishing URL Detection System. This project helps users check if a website link is safe or fake BEFORE they click on it or enter their personal details, so they can stay protected from online scams. Introduce your college, subject, and guide's name as shown on the slide, then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phishing with a simple example. Imagine you get an email that looks exactly like your bank, asking you to 'verify your account' by clicking a link. The link opens a website that looks real, but it is fake - and the moment you type your username and password there, hackers steal it. This is called phishing. It is dangerous because people lose money and personal data, and most users cannot tell a fake site from a real one just by looking at it. That is the exact problem PhishGuard solves - our objective is to instantly tell the user whether a URL is Safe, Suspicious, or Dangerous before they visit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PhishGuard has seven simple features. URL Analysis checks the link for warning signs. The Risk Score gives a clear number showing how risky the link is. Based on that score, the result is shown as Safe, Suspicious, or Dangerous in plain words - no confusing terms. The Dashboard lets users see all scans in one place, Scan History keeps a record of past checks, and Export Reports lets them download results if needed. Finally, the Responsive UI means the app works well on a laptop, tablet, or phone.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PhishGuard is built using modern web technologies. The Frontend - what the user sees - is built with React, TypeScript, Tailwind CSS, and Vite for a fast and clean interface. The Backend - which does the actual work - is built with FastAPI, using SQLAlchemy to talk to a SQLite database. Now look at the architecture flow: the User enters a URL in the React Frontend. This request goes to the FastAPI Backend, which sends it to the URL Analyzer to check for phishing signs. The result and history are then stored in the SQLite Database, and the response is sent back to the user.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PhishGuard works, step by step. First, the user enters a URL and clicks Scan. The backend receives the link and analyzes it - checking for common phishing indicators, like suspicious patterns in the web address. Based on these checks, the system calculates a risk score. This scan is then stored in the history, and finally, the result is displayed to the user as Safe, Suspicious, or Dangerous - so they know instantly whether it is okay to visit that website.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PhishGuard detects phishing URLs quickly, is very easy to use, gives a clear risk score, and helps users stay safe online. In the future, this project can be improved by adding Machine Learning for smarter detection, a Browser Extension for real-time protection, Real-time Threat Intelligence, Email Phishing Detection, and even a Mobile App. Thank you so much for listening. I am happy to take any questions now.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9.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a:effectLst/>
      </p:bgPr>
    </p:bg>
    <p:spTree>
      <p:nvGrpSpPr>
        <p:cNvPr id="1" name=""/>
        <p:cNvGrpSpPr/>
        <p:nvPr/>
      </p:nvGrpSpPr>
      <p:grpSpPr>
        <a:xfrm>
          <a:off x="0" y="0"/>
          <a:ext cx="0" cy="0"/>
          <a:chOff x="0" y="0"/>
          <a:chExt cx="0" cy="0"/>
        </a:xfrm>
      </p:grpSpPr>
      <p:pic>
        <p:nvPicPr>
          <p:cNvPr id="2" name="Image 0" descr="/home/claude/phishguard/icons/title_bg.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5181905" y="685800"/>
            <a:ext cx="1828800" cy="1828800"/>
          </a:xfrm>
          <a:prstGeom prst="ellipse">
            <a:avLst/>
          </a:prstGeom>
          <a:solidFill>
            <a:srgbClr val="0F2A5C"/>
          </a:solidFill>
          <a:ln w="25400">
            <a:solidFill>
              <a:srgbClr val="1B98E0"/>
            </a:solidFill>
            <a:prstDash val="solid"/>
          </a:ln>
          <a:effectLst>
            <a:outerShdw blurRad="228600" dist="50800" dir="16200000" algn="bl" rotWithShape="0">
              <a:srgbClr val="1B98E0">
                <a:alpha val="50000"/>
              </a:srgbClr>
            </a:outerShdw>
          </a:effectLst>
        </p:spPr>
      </p:sp>
      <p:pic>
        <p:nvPicPr>
          <p:cNvPr id="4" name="Image 1" descr="/home/claude/phishguard/icons/shield_title.png"/>
          <p:cNvPicPr>
            <a:picLocks noChangeAspect="1"/>
          </p:cNvPicPr>
          <p:nvPr/>
        </p:nvPicPr>
        <p:blipFill>
          <a:blip r:embed="rId4"/>
          <a:stretch>
            <a:fillRect/>
          </a:stretch>
        </p:blipFill>
        <p:spPr>
          <a:xfrm>
            <a:off x="5639105" y="1143000"/>
            <a:ext cx="914400" cy="914400"/>
          </a:xfrm>
          <a:prstGeom prst="rect">
            <a:avLst/>
          </a:prstGeom>
        </p:spPr>
      </p:pic>
      <p:sp>
        <p:nvSpPr>
          <p:cNvPr id="5" name="Text 1"/>
          <p:cNvSpPr/>
          <p:nvPr/>
        </p:nvSpPr>
        <p:spPr>
          <a:xfrm>
            <a:off x="457200" y="2743200"/>
            <a:ext cx="11277295"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entury Schoolbook" pitchFamily="34" charset="0"/>
                <a:ea typeface="Century Schoolbook" pitchFamily="34" charset="-122"/>
                <a:cs typeface="Century Schoolbook" pitchFamily="34" charset="-120"/>
              </a:rPr>
              <a:t>PhishGuard</a:t>
            </a:r>
            <a:endParaRPr lang="en-US" sz="5400" dirty="0"/>
          </a:p>
        </p:txBody>
      </p:sp>
      <p:sp>
        <p:nvSpPr>
          <p:cNvPr id="6" name="Text 2"/>
          <p:cNvSpPr/>
          <p:nvPr/>
        </p:nvSpPr>
        <p:spPr>
          <a:xfrm>
            <a:off x="457200" y="3611880"/>
            <a:ext cx="11277295" cy="502920"/>
          </a:xfrm>
          <a:prstGeom prst="rect">
            <a:avLst/>
          </a:prstGeom>
          <a:noFill/>
          <a:ln/>
        </p:spPr>
        <p:txBody>
          <a:bodyPr wrap="square" lIns="0" tIns="0" rIns="0" bIns="0" rtlCol="0" anchor="ctr"/>
          <a:lstStyle/>
          <a:p>
            <a:pPr marL="0" indent="0" algn="ctr">
              <a:buNone/>
            </a:pPr>
            <a:r>
              <a:rPr lang="en-US" sz="2000" kern="0" spc="100" dirty="0">
                <a:solidFill>
                  <a:srgbClr val="00F5D4"/>
                </a:solidFill>
                <a:latin typeface="Calibri" pitchFamily="34" charset="0"/>
                <a:ea typeface="Calibri" pitchFamily="34" charset="-122"/>
                <a:cs typeface="Calibri" pitchFamily="34" charset="-120"/>
              </a:rPr>
              <a:t>Phishing URL Detection System</a:t>
            </a:r>
            <a:endParaRPr lang="en-US" sz="2000" dirty="0"/>
          </a:p>
        </p:txBody>
      </p:sp>
      <p:sp>
        <p:nvSpPr>
          <p:cNvPr id="7" name="Shape 3"/>
          <p:cNvSpPr/>
          <p:nvPr/>
        </p:nvSpPr>
        <p:spPr>
          <a:xfrm>
            <a:off x="5959145" y="4224528"/>
            <a:ext cx="54864" cy="54864"/>
          </a:xfrm>
          <a:prstGeom prst="ellipse">
            <a:avLst/>
          </a:prstGeom>
          <a:solidFill>
            <a:srgbClr val="1B98E0"/>
          </a:solidFill>
          <a:ln/>
        </p:spPr>
      </p:sp>
      <p:sp>
        <p:nvSpPr>
          <p:cNvPr id="8" name="Shape 4"/>
          <p:cNvSpPr/>
          <p:nvPr/>
        </p:nvSpPr>
        <p:spPr>
          <a:xfrm>
            <a:off x="6096305" y="4224528"/>
            <a:ext cx="54864" cy="54864"/>
          </a:xfrm>
          <a:prstGeom prst="ellipse">
            <a:avLst/>
          </a:prstGeom>
          <a:solidFill>
            <a:srgbClr val="00F5D4"/>
          </a:solidFill>
          <a:ln/>
        </p:spPr>
      </p:sp>
      <p:sp>
        <p:nvSpPr>
          <p:cNvPr id="9" name="Shape 5"/>
          <p:cNvSpPr/>
          <p:nvPr/>
        </p:nvSpPr>
        <p:spPr>
          <a:xfrm>
            <a:off x="6233465" y="4224528"/>
            <a:ext cx="54864" cy="54864"/>
          </a:xfrm>
          <a:prstGeom prst="ellipse">
            <a:avLst/>
          </a:prstGeom>
          <a:solidFill>
            <a:srgbClr val="1B98E0"/>
          </a:solidFill>
          <a:ln/>
        </p:spPr>
      </p:sp>
      <p:sp>
        <p:nvSpPr>
          <p:cNvPr id="10" name="Shape 6"/>
          <p:cNvSpPr/>
          <p:nvPr/>
        </p:nvSpPr>
        <p:spPr>
          <a:xfrm>
            <a:off x="3353105" y="4617720"/>
            <a:ext cx="5486400" cy="1691640"/>
          </a:xfrm>
          <a:prstGeom prst="roundRect">
            <a:avLst>
              <a:gd name="adj" fmla="val 6486"/>
            </a:avLst>
          </a:prstGeom>
          <a:solidFill>
            <a:srgbClr val="0D1B3E">
              <a:alpha val="70000"/>
            </a:srgbClr>
          </a:solidFill>
          <a:ln w="12700">
            <a:solidFill>
              <a:srgbClr val="2A4478"/>
            </a:solidFill>
            <a:prstDash val="solid"/>
          </a:ln>
        </p:spPr>
      </p:sp>
      <p:sp>
        <p:nvSpPr>
          <p:cNvPr id="11" name="Text 7"/>
          <p:cNvSpPr/>
          <p:nvPr/>
        </p:nvSpPr>
        <p:spPr>
          <a:xfrm>
            <a:off x="3611880" y="4773168"/>
            <a:ext cx="1920240" cy="320040"/>
          </a:xfrm>
          <a:prstGeom prst="rect">
            <a:avLst/>
          </a:prstGeom>
          <a:noFill/>
          <a:ln/>
        </p:spPr>
        <p:txBody>
          <a:bodyPr wrap="square" lIns="0" tIns="0" rIns="0" bIns="0" rtlCol="0" anchor="ctr"/>
          <a:lstStyle/>
          <a:p>
            <a:pPr marL="0" indent="0">
              <a:buNone/>
            </a:pPr>
            <a:r>
              <a:rPr lang="en-US" sz="1200" b="1" dirty="0">
                <a:solidFill>
                  <a:srgbClr val="8FB8E8"/>
                </a:solidFill>
                <a:latin typeface="Calibri" pitchFamily="34" charset="0"/>
                <a:ea typeface="Calibri" pitchFamily="34" charset="-122"/>
                <a:cs typeface="Calibri" pitchFamily="34" charset="-120"/>
              </a:rPr>
              <a:t>Presented By</a:t>
            </a:r>
            <a:endParaRPr lang="en-US" sz="1200" dirty="0"/>
          </a:p>
        </p:txBody>
      </p:sp>
      <p:sp>
        <p:nvSpPr>
          <p:cNvPr id="12" name="Text 8"/>
          <p:cNvSpPr/>
          <p:nvPr/>
        </p:nvSpPr>
        <p:spPr>
          <a:xfrm>
            <a:off x="5577840" y="4773168"/>
            <a:ext cx="310896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Pratham Patel ]</a:t>
            </a:r>
            <a:endParaRPr lang="en-US" sz="1200" dirty="0"/>
          </a:p>
        </p:txBody>
      </p:sp>
      <p:sp>
        <p:nvSpPr>
          <p:cNvPr id="13" name="Text 9"/>
          <p:cNvSpPr/>
          <p:nvPr/>
        </p:nvSpPr>
        <p:spPr>
          <a:xfrm>
            <a:off x="3611880" y="5138928"/>
            <a:ext cx="1920240" cy="320040"/>
          </a:xfrm>
          <a:prstGeom prst="rect">
            <a:avLst/>
          </a:prstGeom>
          <a:noFill/>
          <a:ln/>
        </p:spPr>
        <p:txBody>
          <a:bodyPr wrap="square" lIns="0" tIns="0" rIns="0" bIns="0" rtlCol="0" anchor="ctr"/>
          <a:lstStyle/>
          <a:p>
            <a:pPr marL="0" indent="0">
              <a:buNone/>
            </a:pPr>
            <a:r>
              <a:rPr lang="en-US" sz="1200" b="1" dirty="0">
                <a:solidFill>
                  <a:srgbClr val="8FB8E8"/>
                </a:solidFill>
                <a:latin typeface="Calibri" pitchFamily="34" charset="0"/>
                <a:ea typeface="Calibri" pitchFamily="34" charset="-122"/>
                <a:cs typeface="Calibri" pitchFamily="34" charset="-120"/>
              </a:rPr>
              <a:t>College</a:t>
            </a:r>
            <a:endParaRPr lang="en-US" sz="1200" dirty="0"/>
          </a:p>
        </p:txBody>
      </p:sp>
      <p:sp>
        <p:nvSpPr>
          <p:cNvPr id="14" name="Text 10"/>
          <p:cNvSpPr/>
          <p:nvPr/>
        </p:nvSpPr>
        <p:spPr>
          <a:xfrm>
            <a:off x="5577840" y="5138928"/>
            <a:ext cx="310896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t>
            </a:r>
            <a:r>
              <a:rPr lang="en-US" sz="1200">
                <a:solidFill>
                  <a:srgbClr val="FFFFFF"/>
                </a:solidFill>
                <a:latin typeface="Calibri" pitchFamily="34" charset="0"/>
                <a:ea typeface="Calibri" pitchFamily="34" charset="-122"/>
                <a:cs typeface="Calibri" pitchFamily="34" charset="-120"/>
              </a:rPr>
              <a:t>Parul University ]</a:t>
            </a:r>
            <a:endParaRPr lang="en-US" sz="1200" dirty="0"/>
          </a:p>
        </p:txBody>
      </p:sp>
      <p:sp>
        <p:nvSpPr>
          <p:cNvPr id="15" name="Text 11"/>
          <p:cNvSpPr/>
          <p:nvPr/>
        </p:nvSpPr>
        <p:spPr>
          <a:xfrm>
            <a:off x="3611880" y="5504688"/>
            <a:ext cx="1920240" cy="320040"/>
          </a:xfrm>
          <a:prstGeom prst="rect">
            <a:avLst/>
          </a:prstGeom>
          <a:noFill/>
          <a:ln/>
        </p:spPr>
        <p:txBody>
          <a:bodyPr wrap="square" lIns="0" tIns="0" rIns="0" bIns="0" rtlCol="0" anchor="ctr"/>
          <a:lstStyle/>
          <a:p>
            <a:pPr marL="0" indent="0">
              <a:buNone/>
            </a:pPr>
            <a:r>
              <a:rPr lang="en-US" sz="1200" b="1" dirty="0">
                <a:solidFill>
                  <a:srgbClr val="8FB8E8"/>
                </a:solidFill>
                <a:latin typeface="Calibri" pitchFamily="34" charset="0"/>
                <a:ea typeface="Calibri" pitchFamily="34" charset="-122"/>
                <a:cs typeface="Calibri" pitchFamily="34" charset="-120"/>
              </a:rPr>
              <a:t>Subject</a:t>
            </a:r>
            <a:endParaRPr lang="en-US" sz="1200" dirty="0"/>
          </a:p>
        </p:txBody>
      </p:sp>
      <p:sp>
        <p:nvSpPr>
          <p:cNvPr id="16" name="Text 12"/>
          <p:cNvSpPr/>
          <p:nvPr/>
        </p:nvSpPr>
        <p:spPr>
          <a:xfrm>
            <a:off x="5577840" y="5504688"/>
            <a:ext cx="310896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Cyber Security and Threat Intelligence ]</a:t>
            </a:r>
            <a:endParaRPr lang="en-US" sz="1200" dirty="0"/>
          </a:p>
        </p:txBody>
      </p:sp>
      <p:sp>
        <p:nvSpPr>
          <p:cNvPr id="17" name="Text 13"/>
          <p:cNvSpPr/>
          <p:nvPr/>
        </p:nvSpPr>
        <p:spPr>
          <a:xfrm>
            <a:off x="3611880" y="5870448"/>
            <a:ext cx="1920240" cy="320040"/>
          </a:xfrm>
          <a:prstGeom prst="rect">
            <a:avLst/>
          </a:prstGeom>
          <a:noFill/>
          <a:ln/>
        </p:spPr>
        <p:txBody>
          <a:bodyPr wrap="square" lIns="0" tIns="0" rIns="0" bIns="0" rtlCol="0" anchor="ctr"/>
          <a:lstStyle/>
          <a:p>
            <a:pPr marL="0" indent="0">
              <a:buNone/>
            </a:pPr>
            <a:r>
              <a:rPr lang="en-US" sz="1200" b="1" dirty="0">
                <a:solidFill>
                  <a:srgbClr val="8FB8E8"/>
                </a:solidFill>
                <a:latin typeface="Calibri" pitchFamily="34" charset="0"/>
                <a:ea typeface="Calibri" pitchFamily="34" charset="-122"/>
                <a:cs typeface="Calibri" pitchFamily="34" charset="-120"/>
              </a:rPr>
              <a:t>Enroll No</a:t>
            </a:r>
            <a:endParaRPr lang="en-US" sz="1200" dirty="0"/>
          </a:p>
        </p:txBody>
      </p:sp>
      <p:sp>
        <p:nvSpPr>
          <p:cNvPr id="18" name="Text 14"/>
          <p:cNvSpPr/>
          <p:nvPr/>
        </p:nvSpPr>
        <p:spPr>
          <a:xfrm>
            <a:off x="5577840" y="5870448"/>
            <a:ext cx="310896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[ 2405101200028 ]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lIns="0" tIns="0" rIns="0" bIns="0" rtlCol="0" anchor="ctr"/>
          <a:lstStyle/>
          <a:p>
            <a:pPr marL="0" indent="0">
              <a:buNone/>
            </a:pPr>
            <a:r>
              <a:rPr lang="en-US" sz="1100" b="1" kern="0" spc="200" dirty="0">
                <a:solidFill>
                  <a:srgbClr val="1B98E0"/>
                </a:solidFill>
                <a:latin typeface="Calibri" pitchFamily="34" charset="0"/>
                <a:ea typeface="Calibri" pitchFamily="34" charset="-122"/>
                <a:cs typeface="Calibri" pitchFamily="34" charset="-120"/>
              </a:rPr>
              <a:t>UNDERSTANDING THE PROBLEM</a:t>
            </a:r>
            <a:endParaRPr lang="en-US" sz="1100" dirty="0"/>
          </a:p>
        </p:txBody>
      </p:sp>
      <p:sp>
        <p:nvSpPr>
          <p:cNvPr id="3" name="Text 1"/>
          <p:cNvSpPr/>
          <p:nvPr/>
        </p:nvSpPr>
        <p:spPr>
          <a:xfrm>
            <a:off x="548640" y="566928"/>
            <a:ext cx="10515600" cy="685800"/>
          </a:xfrm>
          <a:prstGeom prst="rect">
            <a:avLst/>
          </a:prstGeom>
          <a:noFill/>
          <a:ln/>
        </p:spPr>
        <p:txBody>
          <a:bodyPr wrap="square" lIns="0" tIns="0" rIns="0" bIns="0" rtlCol="0" anchor="ctr"/>
          <a:lstStyle/>
          <a:p>
            <a:pPr marL="0" indent="0">
              <a:buNone/>
            </a:pPr>
            <a:r>
              <a:rPr lang="en-US" sz="3200" b="1" dirty="0">
                <a:solidFill>
                  <a:srgbClr val="0A1128"/>
                </a:solidFill>
                <a:latin typeface="Century Schoolbook" pitchFamily="34" charset="0"/>
                <a:ea typeface="Century Schoolbook" pitchFamily="34" charset="-122"/>
                <a:cs typeface="Century Schoolbook" pitchFamily="34" charset="-120"/>
              </a:rPr>
              <a:t>Project Overview</a:t>
            </a:r>
            <a:endParaRPr lang="en-US" sz="3200" dirty="0"/>
          </a:p>
        </p:txBody>
      </p:sp>
      <p:sp>
        <p:nvSpPr>
          <p:cNvPr id="4" name="Shape 2"/>
          <p:cNvSpPr/>
          <p:nvPr/>
        </p:nvSpPr>
        <p:spPr>
          <a:xfrm>
            <a:off x="11292840" y="365760"/>
            <a:ext cx="384048" cy="384048"/>
          </a:xfrm>
          <a:prstGeom prst="ellipse">
            <a:avLst/>
          </a:prstGeom>
          <a:solidFill>
            <a:srgbClr val="0A1128"/>
          </a:solidFill>
          <a:ln/>
        </p:spPr>
      </p:sp>
      <p:pic>
        <p:nvPicPr>
          <p:cNvPr id="5" name="Image 0" descr="/home/claude/phishguard/icons/lock.png"/>
          <p:cNvPicPr>
            <a:picLocks noChangeAspect="1"/>
          </p:cNvPicPr>
          <p:nvPr/>
        </p:nvPicPr>
        <p:blipFill>
          <a:blip r:embed="rId3"/>
          <a:stretch>
            <a:fillRect/>
          </a:stretch>
        </p:blipFill>
        <p:spPr>
          <a:xfrm>
            <a:off x="11393424" y="466344"/>
            <a:ext cx="182880" cy="182880"/>
          </a:xfrm>
          <a:prstGeom prst="rect">
            <a:avLst/>
          </a:prstGeom>
        </p:spPr>
      </p:pic>
      <p:sp>
        <p:nvSpPr>
          <p:cNvPr id="6" name="Shape 3"/>
          <p:cNvSpPr/>
          <p:nvPr/>
        </p:nvSpPr>
        <p:spPr>
          <a:xfrm>
            <a:off x="548640" y="1508760"/>
            <a:ext cx="5120640" cy="2331720"/>
          </a:xfrm>
          <a:prstGeom prst="roundRect">
            <a:avLst>
              <a:gd name="adj" fmla="val 3922"/>
            </a:avLst>
          </a:prstGeom>
          <a:solidFill>
            <a:srgbClr val="FFFFFF"/>
          </a:solidFill>
          <a:ln w="12700">
            <a:solidFill>
              <a:srgbClr val="E1E8F2"/>
            </a:solidFill>
            <a:prstDash val="solid"/>
          </a:ln>
          <a:effectLst>
            <a:outerShdw blurRad="101600" dist="25400" dir="5400000" algn="bl" rotWithShape="0">
              <a:srgbClr val="3A6EA5">
                <a:alpha val="15000"/>
              </a:srgbClr>
            </a:outerShdw>
          </a:effectLst>
        </p:spPr>
      </p:sp>
      <p:sp>
        <p:nvSpPr>
          <p:cNvPr id="7" name="Shape 4"/>
          <p:cNvSpPr/>
          <p:nvPr/>
        </p:nvSpPr>
        <p:spPr>
          <a:xfrm>
            <a:off x="822960" y="1783080"/>
            <a:ext cx="685800" cy="685800"/>
          </a:xfrm>
          <a:prstGeom prst="ellipse">
            <a:avLst/>
          </a:prstGeom>
          <a:solidFill>
            <a:srgbClr val="E7F3FC"/>
          </a:solidFill>
          <a:ln/>
        </p:spPr>
      </p:sp>
      <p:pic>
        <p:nvPicPr>
          <p:cNvPr id="8" name="Image 1" descr="/home/claude/phishguard/icons/hook.png"/>
          <p:cNvPicPr>
            <a:picLocks noChangeAspect="1"/>
          </p:cNvPicPr>
          <p:nvPr/>
        </p:nvPicPr>
        <p:blipFill>
          <a:blip r:embed="rId4"/>
          <a:stretch>
            <a:fillRect/>
          </a:stretch>
        </p:blipFill>
        <p:spPr>
          <a:xfrm>
            <a:off x="969264" y="1929384"/>
            <a:ext cx="393192" cy="393192"/>
          </a:xfrm>
          <a:prstGeom prst="rect">
            <a:avLst/>
          </a:prstGeom>
        </p:spPr>
      </p:pic>
      <p:sp>
        <p:nvSpPr>
          <p:cNvPr id="9" name="Text 5"/>
          <p:cNvSpPr/>
          <p:nvPr/>
        </p:nvSpPr>
        <p:spPr>
          <a:xfrm>
            <a:off x="1691640" y="1801368"/>
            <a:ext cx="3703320" cy="411480"/>
          </a:xfrm>
          <a:prstGeom prst="rect">
            <a:avLst/>
          </a:prstGeom>
          <a:noFill/>
          <a:ln/>
        </p:spPr>
        <p:txBody>
          <a:bodyPr wrap="square" lIns="0" tIns="0" rIns="0" bIns="0" rtlCol="0" anchor="ctr"/>
          <a:lstStyle/>
          <a:p>
            <a:pPr marL="0" indent="0">
              <a:buNone/>
            </a:pPr>
            <a:r>
              <a:rPr lang="en-US" sz="1600" b="1" dirty="0">
                <a:solidFill>
                  <a:srgbClr val="0A1128"/>
                </a:solidFill>
                <a:latin typeface="Century Schoolbook" pitchFamily="34" charset="0"/>
                <a:ea typeface="Century Schoolbook" pitchFamily="34" charset="-122"/>
                <a:cs typeface="Century Schoolbook" pitchFamily="34" charset="-120"/>
              </a:rPr>
              <a:t>What is Phishing?</a:t>
            </a:r>
            <a:endParaRPr lang="en-US" sz="1600" dirty="0"/>
          </a:p>
        </p:txBody>
      </p:sp>
      <p:sp>
        <p:nvSpPr>
          <p:cNvPr id="10" name="Text 6"/>
          <p:cNvSpPr/>
          <p:nvPr/>
        </p:nvSpPr>
        <p:spPr>
          <a:xfrm>
            <a:off x="822960" y="2606040"/>
            <a:ext cx="4572000" cy="1051560"/>
          </a:xfrm>
          <a:prstGeom prst="rect">
            <a:avLst/>
          </a:prstGeom>
          <a:noFill/>
          <a:ln/>
        </p:spPr>
        <p:txBody>
          <a:bodyPr wrap="square" lIns="0" tIns="0" rIns="0" bIns="0" rtlCol="0" anchor="ctr"/>
          <a:lstStyle/>
          <a:p>
            <a:pPr marL="0" indent="0">
              <a:lnSpc>
                <a:spcPct val="115000"/>
              </a:lnSpc>
              <a:buNone/>
            </a:pPr>
            <a:r>
              <a:rPr lang="en-US" sz="1300" dirty="0">
                <a:solidFill>
                  <a:srgbClr val="51607A"/>
                </a:solidFill>
                <a:latin typeface="Calibri" pitchFamily="34" charset="0"/>
                <a:ea typeface="Calibri" pitchFamily="34" charset="-122"/>
                <a:cs typeface="Calibri" pitchFamily="34" charset="-120"/>
              </a:rPr>
              <a:t>A trick where fake websites or emails copy real ones to steal your passwords, OTPs, or card details.</a:t>
            </a:r>
            <a:endParaRPr lang="en-US" sz="1300" dirty="0"/>
          </a:p>
        </p:txBody>
      </p:sp>
      <p:sp>
        <p:nvSpPr>
          <p:cNvPr id="11" name="Shape 7"/>
          <p:cNvSpPr/>
          <p:nvPr/>
        </p:nvSpPr>
        <p:spPr>
          <a:xfrm>
            <a:off x="6126480" y="1508760"/>
            <a:ext cx="5120640" cy="2331720"/>
          </a:xfrm>
          <a:prstGeom prst="roundRect">
            <a:avLst>
              <a:gd name="adj" fmla="val 3922"/>
            </a:avLst>
          </a:prstGeom>
          <a:solidFill>
            <a:srgbClr val="FFFFFF"/>
          </a:solidFill>
          <a:ln w="12700">
            <a:solidFill>
              <a:srgbClr val="E1E8F2"/>
            </a:solidFill>
            <a:prstDash val="solid"/>
          </a:ln>
          <a:effectLst>
            <a:outerShdw blurRad="101600" dist="25400" dir="5400000" algn="bl" rotWithShape="0">
              <a:srgbClr val="3A6EA5">
                <a:alpha val="15000"/>
              </a:srgbClr>
            </a:outerShdw>
          </a:effectLst>
        </p:spPr>
      </p:sp>
      <p:sp>
        <p:nvSpPr>
          <p:cNvPr id="12" name="Shape 8"/>
          <p:cNvSpPr/>
          <p:nvPr/>
        </p:nvSpPr>
        <p:spPr>
          <a:xfrm>
            <a:off x="6400800" y="1783080"/>
            <a:ext cx="685800" cy="685800"/>
          </a:xfrm>
          <a:prstGeom prst="ellipse">
            <a:avLst/>
          </a:prstGeom>
          <a:solidFill>
            <a:srgbClr val="FDECEC"/>
          </a:solidFill>
          <a:ln/>
        </p:spPr>
      </p:sp>
      <p:pic>
        <p:nvPicPr>
          <p:cNvPr id="13" name="Image 2" descr="/home/claude/phishguard/icons/warning.png"/>
          <p:cNvPicPr>
            <a:picLocks noChangeAspect="1"/>
          </p:cNvPicPr>
          <p:nvPr/>
        </p:nvPicPr>
        <p:blipFill>
          <a:blip r:embed="rId5"/>
          <a:stretch>
            <a:fillRect/>
          </a:stretch>
        </p:blipFill>
        <p:spPr>
          <a:xfrm>
            <a:off x="6547104" y="1929384"/>
            <a:ext cx="393192" cy="393192"/>
          </a:xfrm>
          <a:prstGeom prst="rect">
            <a:avLst/>
          </a:prstGeom>
        </p:spPr>
      </p:pic>
      <p:sp>
        <p:nvSpPr>
          <p:cNvPr id="14" name="Text 9"/>
          <p:cNvSpPr/>
          <p:nvPr/>
        </p:nvSpPr>
        <p:spPr>
          <a:xfrm>
            <a:off x="7269480" y="1801368"/>
            <a:ext cx="3703320" cy="411480"/>
          </a:xfrm>
          <a:prstGeom prst="rect">
            <a:avLst/>
          </a:prstGeom>
          <a:noFill/>
          <a:ln/>
        </p:spPr>
        <p:txBody>
          <a:bodyPr wrap="square" lIns="0" tIns="0" rIns="0" bIns="0" rtlCol="0" anchor="ctr"/>
          <a:lstStyle/>
          <a:p>
            <a:pPr marL="0" indent="0">
              <a:buNone/>
            </a:pPr>
            <a:r>
              <a:rPr lang="en-US" sz="1600" b="1" dirty="0">
                <a:solidFill>
                  <a:srgbClr val="0A1128"/>
                </a:solidFill>
                <a:latin typeface="Century Schoolbook" pitchFamily="34" charset="0"/>
                <a:ea typeface="Century Schoolbook" pitchFamily="34" charset="-122"/>
                <a:cs typeface="Century Schoolbook" pitchFamily="34" charset="-120"/>
              </a:rPr>
              <a:t>Why is it Dangerous?</a:t>
            </a:r>
            <a:endParaRPr lang="en-US" sz="1600" dirty="0"/>
          </a:p>
        </p:txBody>
      </p:sp>
      <p:sp>
        <p:nvSpPr>
          <p:cNvPr id="15" name="Text 10"/>
          <p:cNvSpPr/>
          <p:nvPr/>
        </p:nvSpPr>
        <p:spPr>
          <a:xfrm>
            <a:off x="6400800" y="2606040"/>
            <a:ext cx="4572000" cy="1051560"/>
          </a:xfrm>
          <a:prstGeom prst="rect">
            <a:avLst/>
          </a:prstGeom>
          <a:noFill/>
          <a:ln/>
        </p:spPr>
        <p:txBody>
          <a:bodyPr wrap="square" lIns="0" tIns="0" rIns="0" bIns="0" rtlCol="0" anchor="ctr"/>
          <a:lstStyle/>
          <a:p>
            <a:pPr marL="0" indent="0">
              <a:lnSpc>
                <a:spcPct val="115000"/>
              </a:lnSpc>
              <a:buNone/>
            </a:pPr>
            <a:r>
              <a:rPr lang="en-US" sz="1300" dirty="0">
                <a:solidFill>
                  <a:srgbClr val="51607A"/>
                </a:solidFill>
                <a:latin typeface="Calibri" pitchFamily="34" charset="0"/>
                <a:ea typeface="Calibri" pitchFamily="34" charset="-122"/>
                <a:cs typeface="Calibri" pitchFamily="34" charset="-120"/>
              </a:rPr>
              <a:t>Victims lose money, personal data, and account access. Fake sites look almost identical to real ones.</a:t>
            </a:r>
            <a:endParaRPr lang="en-US" sz="1300" dirty="0"/>
          </a:p>
        </p:txBody>
      </p:sp>
      <p:sp>
        <p:nvSpPr>
          <p:cNvPr id="16" name="Shape 11"/>
          <p:cNvSpPr/>
          <p:nvPr/>
        </p:nvSpPr>
        <p:spPr>
          <a:xfrm>
            <a:off x="548640" y="4160520"/>
            <a:ext cx="5120640" cy="2331720"/>
          </a:xfrm>
          <a:prstGeom prst="roundRect">
            <a:avLst>
              <a:gd name="adj" fmla="val 3922"/>
            </a:avLst>
          </a:prstGeom>
          <a:solidFill>
            <a:srgbClr val="FFFFFF"/>
          </a:solidFill>
          <a:ln w="12700">
            <a:solidFill>
              <a:srgbClr val="E1E8F2"/>
            </a:solidFill>
            <a:prstDash val="solid"/>
          </a:ln>
          <a:effectLst>
            <a:outerShdw blurRad="101600" dist="25400" dir="5400000" algn="bl" rotWithShape="0">
              <a:srgbClr val="3A6EA5">
                <a:alpha val="15000"/>
              </a:srgbClr>
            </a:outerShdw>
          </a:effectLst>
        </p:spPr>
      </p:sp>
      <p:sp>
        <p:nvSpPr>
          <p:cNvPr id="17" name="Shape 12"/>
          <p:cNvSpPr/>
          <p:nvPr/>
        </p:nvSpPr>
        <p:spPr>
          <a:xfrm>
            <a:off x="822960" y="4434840"/>
            <a:ext cx="685800" cy="685800"/>
          </a:xfrm>
          <a:prstGeom prst="ellipse">
            <a:avLst/>
          </a:prstGeom>
          <a:solidFill>
            <a:srgbClr val="E7F3FC"/>
          </a:solidFill>
          <a:ln/>
        </p:spPr>
      </p:sp>
      <p:pic>
        <p:nvPicPr>
          <p:cNvPr id="18" name="Image 3" descr="/home/claude/phishguard/icons/puzzle.png"/>
          <p:cNvPicPr>
            <a:picLocks noChangeAspect="1"/>
          </p:cNvPicPr>
          <p:nvPr/>
        </p:nvPicPr>
        <p:blipFill>
          <a:blip r:embed="rId6"/>
          <a:stretch>
            <a:fillRect/>
          </a:stretch>
        </p:blipFill>
        <p:spPr>
          <a:xfrm>
            <a:off x="969264" y="4581144"/>
            <a:ext cx="393192" cy="393192"/>
          </a:xfrm>
          <a:prstGeom prst="rect">
            <a:avLst/>
          </a:prstGeom>
        </p:spPr>
      </p:pic>
      <p:sp>
        <p:nvSpPr>
          <p:cNvPr id="19" name="Text 13"/>
          <p:cNvSpPr/>
          <p:nvPr/>
        </p:nvSpPr>
        <p:spPr>
          <a:xfrm>
            <a:off x="1691640" y="4453128"/>
            <a:ext cx="3703320" cy="411480"/>
          </a:xfrm>
          <a:prstGeom prst="rect">
            <a:avLst/>
          </a:prstGeom>
          <a:noFill/>
          <a:ln/>
        </p:spPr>
        <p:txBody>
          <a:bodyPr wrap="square" lIns="0" tIns="0" rIns="0" bIns="0" rtlCol="0" anchor="ctr"/>
          <a:lstStyle/>
          <a:p>
            <a:pPr marL="0" indent="0">
              <a:buNone/>
            </a:pPr>
            <a:r>
              <a:rPr lang="en-US" sz="1600" b="1" dirty="0">
                <a:solidFill>
                  <a:srgbClr val="0A1128"/>
                </a:solidFill>
                <a:latin typeface="Century Schoolbook" pitchFamily="34" charset="0"/>
                <a:ea typeface="Century Schoolbook" pitchFamily="34" charset="-122"/>
                <a:cs typeface="Century Schoolbook" pitchFamily="34" charset="-120"/>
              </a:rPr>
              <a:t>The Problem</a:t>
            </a:r>
            <a:endParaRPr lang="en-US" sz="1600" dirty="0"/>
          </a:p>
        </p:txBody>
      </p:sp>
      <p:sp>
        <p:nvSpPr>
          <p:cNvPr id="20" name="Text 14"/>
          <p:cNvSpPr/>
          <p:nvPr/>
        </p:nvSpPr>
        <p:spPr>
          <a:xfrm>
            <a:off x="822960" y="5257800"/>
            <a:ext cx="4572000" cy="1051560"/>
          </a:xfrm>
          <a:prstGeom prst="rect">
            <a:avLst/>
          </a:prstGeom>
          <a:noFill/>
          <a:ln/>
        </p:spPr>
        <p:txBody>
          <a:bodyPr wrap="square" lIns="0" tIns="0" rIns="0" bIns="0" rtlCol="0" anchor="ctr"/>
          <a:lstStyle/>
          <a:p>
            <a:pPr marL="0" indent="0">
              <a:lnSpc>
                <a:spcPct val="115000"/>
              </a:lnSpc>
              <a:buNone/>
            </a:pPr>
            <a:r>
              <a:rPr lang="en-US" sz="1300" dirty="0">
                <a:solidFill>
                  <a:srgbClr val="51607A"/>
                </a:solidFill>
                <a:latin typeface="Calibri" pitchFamily="34" charset="0"/>
                <a:ea typeface="Calibri" pitchFamily="34" charset="-122"/>
                <a:cs typeface="Calibri" pitchFamily="34" charset="-120"/>
              </a:rPr>
              <a:t>Most users cannot tell a safe link from a fake one just by looking at the URL.</a:t>
            </a:r>
            <a:endParaRPr lang="en-US" sz="1300" dirty="0"/>
          </a:p>
        </p:txBody>
      </p:sp>
      <p:sp>
        <p:nvSpPr>
          <p:cNvPr id="21" name="Shape 15"/>
          <p:cNvSpPr/>
          <p:nvPr/>
        </p:nvSpPr>
        <p:spPr>
          <a:xfrm>
            <a:off x="6126480" y="4160520"/>
            <a:ext cx="5120640" cy="2331720"/>
          </a:xfrm>
          <a:prstGeom prst="roundRect">
            <a:avLst>
              <a:gd name="adj" fmla="val 3922"/>
            </a:avLst>
          </a:prstGeom>
          <a:solidFill>
            <a:srgbClr val="FFFFFF"/>
          </a:solidFill>
          <a:ln w="12700">
            <a:solidFill>
              <a:srgbClr val="E1E8F2"/>
            </a:solidFill>
            <a:prstDash val="solid"/>
          </a:ln>
          <a:effectLst>
            <a:outerShdw blurRad="101600" dist="25400" dir="5400000" algn="bl" rotWithShape="0">
              <a:srgbClr val="3A6EA5">
                <a:alpha val="15000"/>
              </a:srgbClr>
            </a:outerShdw>
          </a:effectLst>
        </p:spPr>
      </p:sp>
      <p:sp>
        <p:nvSpPr>
          <p:cNvPr id="22" name="Shape 16"/>
          <p:cNvSpPr/>
          <p:nvPr/>
        </p:nvSpPr>
        <p:spPr>
          <a:xfrm>
            <a:off x="6400800" y="4434840"/>
            <a:ext cx="685800" cy="685800"/>
          </a:xfrm>
          <a:prstGeom prst="ellipse">
            <a:avLst/>
          </a:prstGeom>
          <a:solidFill>
            <a:srgbClr val="E6FBF7"/>
          </a:solidFill>
          <a:ln/>
        </p:spPr>
      </p:sp>
      <p:pic>
        <p:nvPicPr>
          <p:cNvPr id="23" name="Image 4" descr="/home/claude/phishguard/icons/target.png"/>
          <p:cNvPicPr>
            <a:picLocks noChangeAspect="1"/>
          </p:cNvPicPr>
          <p:nvPr/>
        </p:nvPicPr>
        <p:blipFill>
          <a:blip r:embed="rId7"/>
          <a:stretch>
            <a:fillRect/>
          </a:stretch>
        </p:blipFill>
        <p:spPr>
          <a:xfrm>
            <a:off x="6547104" y="4581144"/>
            <a:ext cx="393192" cy="393192"/>
          </a:xfrm>
          <a:prstGeom prst="rect">
            <a:avLst/>
          </a:prstGeom>
        </p:spPr>
      </p:pic>
      <p:sp>
        <p:nvSpPr>
          <p:cNvPr id="24" name="Text 17"/>
          <p:cNvSpPr/>
          <p:nvPr/>
        </p:nvSpPr>
        <p:spPr>
          <a:xfrm>
            <a:off x="7269480" y="4453128"/>
            <a:ext cx="3703320" cy="411480"/>
          </a:xfrm>
          <a:prstGeom prst="rect">
            <a:avLst/>
          </a:prstGeom>
          <a:noFill/>
          <a:ln/>
        </p:spPr>
        <p:txBody>
          <a:bodyPr wrap="square" lIns="0" tIns="0" rIns="0" bIns="0" rtlCol="0" anchor="ctr"/>
          <a:lstStyle/>
          <a:p>
            <a:pPr marL="0" indent="0">
              <a:buNone/>
            </a:pPr>
            <a:r>
              <a:rPr lang="en-US" sz="1600" b="1" dirty="0">
                <a:solidFill>
                  <a:srgbClr val="0A1128"/>
                </a:solidFill>
                <a:latin typeface="Century Schoolbook" pitchFamily="34" charset="0"/>
                <a:ea typeface="Century Schoolbook" pitchFamily="34" charset="-122"/>
                <a:cs typeface="Century Schoolbook" pitchFamily="34" charset="-120"/>
              </a:rPr>
              <a:t>Our Objective</a:t>
            </a:r>
            <a:endParaRPr lang="en-US" sz="1600" dirty="0"/>
          </a:p>
        </p:txBody>
      </p:sp>
      <p:sp>
        <p:nvSpPr>
          <p:cNvPr id="25" name="Text 18"/>
          <p:cNvSpPr/>
          <p:nvPr/>
        </p:nvSpPr>
        <p:spPr>
          <a:xfrm>
            <a:off x="6400800" y="5257800"/>
            <a:ext cx="4572000" cy="1051560"/>
          </a:xfrm>
          <a:prstGeom prst="rect">
            <a:avLst/>
          </a:prstGeom>
          <a:noFill/>
          <a:ln/>
        </p:spPr>
        <p:txBody>
          <a:bodyPr wrap="square" lIns="0" tIns="0" rIns="0" bIns="0" rtlCol="0" anchor="ctr"/>
          <a:lstStyle/>
          <a:p>
            <a:pPr marL="0" indent="0">
              <a:lnSpc>
                <a:spcPct val="115000"/>
              </a:lnSpc>
              <a:buNone/>
            </a:pPr>
            <a:r>
              <a:rPr lang="en-US" sz="1300" dirty="0">
                <a:solidFill>
                  <a:srgbClr val="51607A"/>
                </a:solidFill>
                <a:latin typeface="Calibri" pitchFamily="34" charset="0"/>
                <a:ea typeface="Calibri" pitchFamily="34" charset="-122"/>
                <a:cs typeface="Calibri" pitchFamily="34" charset="-120"/>
              </a:rPr>
              <a:t>Build a simple tool that scans any URL and instantly tells the user if it is Safe, Suspicious, or Dangerous.</a:t>
            </a:r>
            <a:endParaRPr lang="en-US" sz="1300" dirty="0"/>
          </a:p>
        </p:txBody>
      </p:sp>
      <p:sp>
        <p:nvSpPr>
          <p:cNvPr id="26" name="Text 19"/>
          <p:cNvSpPr/>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1607A"/>
                </a:solidFill>
                <a:latin typeface="Calibri" pitchFamily="34" charset="0"/>
                <a:ea typeface="Calibri" pitchFamily="34" charset="-122"/>
                <a:cs typeface="Calibri" pitchFamily="34" charset="-120"/>
              </a:rPr>
              <a:t>PhishGuard  |  Phishing URL Detection System</a:t>
            </a:r>
            <a:endParaRPr lang="en-US" sz="900" dirty="0"/>
          </a:p>
        </p:txBody>
      </p:sp>
      <p:sp>
        <p:nvSpPr>
          <p:cNvPr id="27" name="Text 20"/>
          <p:cNvSpPr/>
          <p:nvPr/>
        </p:nvSpPr>
        <p:spPr>
          <a:xfrm>
            <a:off x="11430000" y="6547104"/>
            <a:ext cx="365760" cy="256032"/>
          </a:xfrm>
          <a:prstGeom prst="rect">
            <a:avLst/>
          </a:prstGeom>
          <a:noFill/>
          <a:ln/>
        </p:spPr>
        <p:txBody>
          <a:bodyPr wrap="square" lIns="0" tIns="0" rIns="0" bIns="0" rtlCol="0" anchor="ctr"/>
          <a:lstStyle/>
          <a:p>
            <a:pPr marL="0" indent="0" algn="r">
              <a:buNone/>
            </a:pPr>
            <a:r>
              <a:rPr lang="en-US" sz="900" dirty="0">
                <a:solidFill>
                  <a:srgbClr val="5160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lIns="0" tIns="0" rIns="0" bIns="0" rtlCol="0" anchor="ctr"/>
          <a:lstStyle/>
          <a:p>
            <a:pPr marL="0" indent="0">
              <a:buNone/>
            </a:pPr>
            <a:r>
              <a:rPr lang="en-US" sz="1100" b="1" kern="0" spc="200" dirty="0">
                <a:solidFill>
                  <a:srgbClr val="1B98E0"/>
                </a:solidFill>
                <a:latin typeface="Calibri" pitchFamily="34" charset="0"/>
                <a:ea typeface="Calibri" pitchFamily="34" charset="-122"/>
                <a:cs typeface="Calibri" pitchFamily="34" charset="-120"/>
              </a:rPr>
              <a:t>WHAT PHISHGUARD OFFERS</a:t>
            </a:r>
            <a:endParaRPr lang="en-US" sz="1100" dirty="0"/>
          </a:p>
        </p:txBody>
      </p:sp>
      <p:sp>
        <p:nvSpPr>
          <p:cNvPr id="3" name="Text 1"/>
          <p:cNvSpPr/>
          <p:nvPr/>
        </p:nvSpPr>
        <p:spPr>
          <a:xfrm>
            <a:off x="548640" y="566928"/>
            <a:ext cx="10515600" cy="685800"/>
          </a:xfrm>
          <a:prstGeom prst="rect">
            <a:avLst/>
          </a:prstGeom>
          <a:noFill/>
          <a:ln/>
        </p:spPr>
        <p:txBody>
          <a:bodyPr wrap="square" lIns="0" tIns="0" rIns="0" bIns="0" rtlCol="0" anchor="ctr"/>
          <a:lstStyle/>
          <a:p>
            <a:pPr marL="0" indent="0">
              <a:buNone/>
            </a:pPr>
            <a:r>
              <a:rPr lang="en-US" sz="3200" b="1" dirty="0">
                <a:solidFill>
                  <a:srgbClr val="0A1128"/>
                </a:solidFill>
                <a:latin typeface="Century Schoolbook" pitchFamily="34" charset="0"/>
                <a:ea typeface="Century Schoolbook" pitchFamily="34" charset="-122"/>
                <a:cs typeface="Century Schoolbook" pitchFamily="34" charset="-120"/>
              </a:rPr>
              <a:t>Key Features</a:t>
            </a:r>
            <a:endParaRPr lang="en-US" sz="3200" dirty="0"/>
          </a:p>
        </p:txBody>
      </p:sp>
      <p:sp>
        <p:nvSpPr>
          <p:cNvPr id="4" name="Shape 2"/>
          <p:cNvSpPr/>
          <p:nvPr/>
        </p:nvSpPr>
        <p:spPr>
          <a:xfrm>
            <a:off x="11292840" y="365760"/>
            <a:ext cx="384048" cy="384048"/>
          </a:xfrm>
          <a:prstGeom prst="ellipse">
            <a:avLst/>
          </a:prstGeom>
          <a:solidFill>
            <a:srgbClr val="0A1128"/>
          </a:solidFill>
          <a:ln/>
        </p:spPr>
      </p:sp>
      <p:pic>
        <p:nvPicPr>
          <p:cNvPr id="5" name="Image 0" descr="/home/claude/phishguard/icons/lock.png"/>
          <p:cNvPicPr>
            <a:picLocks noChangeAspect="1"/>
          </p:cNvPicPr>
          <p:nvPr/>
        </p:nvPicPr>
        <p:blipFill>
          <a:blip r:embed="rId3"/>
          <a:stretch>
            <a:fillRect/>
          </a:stretch>
        </p:blipFill>
        <p:spPr>
          <a:xfrm>
            <a:off x="11393424" y="466344"/>
            <a:ext cx="182880" cy="182880"/>
          </a:xfrm>
          <a:prstGeom prst="rect">
            <a:avLst/>
          </a:prstGeom>
        </p:spPr>
      </p:pic>
      <p:sp>
        <p:nvSpPr>
          <p:cNvPr id="6" name="Shape 3"/>
          <p:cNvSpPr/>
          <p:nvPr/>
        </p:nvSpPr>
        <p:spPr>
          <a:xfrm>
            <a:off x="548640" y="137160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7" name="Shape 4"/>
          <p:cNvSpPr/>
          <p:nvPr/>
        </p:nvSpPr>
        <p:spPr>
          <a:xfrm>
            <a:off x="768096" y="1591056"/>
            <a:ext cx="512064" cy="512064"/>
          </a:xfrm>
          <a:prstGeom prst="ellipse">
            <a:avLst/>
          </a:prstGeom>
          <a:solidFill>
            <a:srgbClr val="E7F3FC"/>
          </a:solidFill>
          <a:ln/>
        </p:spPr>
      </p:sp>
      <p:pic>
        <p:nvPicPr>
          <p:cNvPr id="8" name="Image 1" descr="/home/claude/phishguard/icons/search.png"/>
          <p:cNvPicPr>
            <a:picLocks noChangeAspect="1"/>
          </p:cNvPicPr>
          <p:nvPr/>
        </p:nvPicPr>
        <p:blipFill>
          <a:blip r:embed="rId4"/>
          <a:stretch>
            <a:fillRect/>
          </a:stretch>
        </p:blipFill>
        <p:spPr>
          <a:xfrm>
            <a:off x="886968" y="1709928"/>
            <a:ext cx="274320" cy="274320"/>
          </a:xfrm>
          <a:prstGeom prst="rect">
            <a:avLst/>
          </a:prstGeom>
        </p:spPr>
      </p:pic>
      <p:sp>
        <p:nvSpPr>
          <p:cNvPr id="9" name="Text 5"/>
          <p:cNvSpPr/>
          <p:nvPr/>
        </p:nvSpPr>
        <p:spPr>
          <a:xfrm>
            <a:off x="1408176" y="153619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URL Analysis</a:t>
            </a:r>
            <a:endParaRPr lang="en-US" sz="1250" dirty="0"/>
          </a:p>
        </p:txBody>
      </p:sp>
      <p:sp>
        <p:nvSpPr>
          <p:cNvPr id="10" name="Text 6"/>
          <p:cNvSpPr/>
          <p:nvPr/>
        </p:nvSpPr>
        <p:spPr>
          <a:xfrm>
            <a:off x="768096" y="217627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Scans the link's structure for phishing warning signs.</a:t>
            </a:r>
            <a:endParaRPr lang="en-US" sz="1050" dirty="0"/>
          </a:p>
        </p:txBody>
      </p:sp>
      <p:sp>
        <p:nvSpPr>
          <p:cNvPr id="11" name="Shape 7"/>
          <p:cNvSpPr/>
          <p:nvPr/>
        </p:nvSpPr>
        <p:spPr>
          <a:xfrm>
            <a:off x="4297680" y="137160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12" name="Shape 8"/>
          <p:cNvSpPr/>
          <p:nvPr/>
        </p:nvSpPr>
        <p:spPr>
          <a:xfrm>
            <a:off x="4517136" y="1591056"/>
            <a:ext cx="512064" cy="512064"/>
          </a:xfrm>
          <a:prstGeom prst="ellipse">
            <a:avLst/>
          </a:prstGeom>
          <a:solidFill>
            <a:srgbClr val="E6FBF7"/>
          </a:solidFill>
          <a:ln/>
        </p:spPr>
      </p:sp>
      <p:pic>
        <p:nvPicPr>
          <p:cNvPr id="13" name="Image 2" descr="/home/claude/phishguard/icons/chart.png"/>
          <p:cNvPicPr>
            <a:picLocks noChangeAspect="1"/>
          </p:cNvPicPr>
          <p:nvPr/>
        </p:nvPicPr>
        <p:blipFill>
          <a:blip r:embed="rId5"/>
          <a:stretch>
            <a:fillRect/>
          </a:stretch>
        </p:blipFill>
        <p:spPr>
          <a:xfrm>
            <a:off x="4636008" y="1709928"/>
            <a:ext cx="274320" cy="274320"/>
          </a:xfrm>
          <a:prstGeom prst="rect">
            <a:avLst/>
          </a:prstGeom>
        </p:spPr>
      </p:pic>
      <p:sp>
        <p:nvSpPr>
          <p:cNvPr id="14" name="Text 9"/>
          <p:cNvSpPr/>
          <p:nvPr/>
        </p:nvSpPr>
        <p:spPr>
          <a:xfrm>
            <a:off x="5157216" y="153619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Risk Score</a:t>
            </a:r>
            <a:endParaRPr lang="en-US" sz="1250" dirty="0"/>
          </a:p>
        </p:txBody>
      </p:sp>
      <p:sp>
        <p:nvSpPr>
          <p:cNvPr id="15" name="Text 10"/>
          <p:cNvSpPr/>
          <p:nvPr/>
        </p:nvSpPr>
        <p:spPr>
          <a:xfrm>
            <a:off x="4517136" y="217627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Gives every URL a clear numeric risk score.</a:t>
            </a:r>
            <a:endParaRPr lang="en-US" sz="1050" dirty="0"/>
          </a:p>
        </p:txBody>
      </p:sp>
      <p:sp>
        <p:nvSpPr>
          <p:cNvPr id="16" name="Shape 11"/>
          <p:cNvSpPr/>
          <p:nvPr/>
        </p:nvSpPr>
        <p:spPr>
          <a:xfrm>
            <a:off x="8046720" y="137160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17" name="Shape 12"/>
          <p:cNvSpPr/>
          <p:nvPr/>
        </p:nvSpPr>
        <p:spPr>
          <a:xfrm>
            <a:off x="8266176" y="1591056"/>
            <a:ext cx="512064" cy="512064"/>
          </a:xfrm>
          <a:prstGeom prst="ellipse">
            <a:avLst/>
          </a:prstGeom>
          <a:solidFill>
            <a:srgbClr val="FDECEC"/>
          </a:solidFill>
          <a:ln/>
        </p:spPr>
      </p:sp>
      <p:pic>
        <p:nvPicPr>
          <p:cNvPr id="18" name="Image 3" descr="/home/claude/phishguard/icons/traffic.png"/>
          <p:cNvPicPr>
            <a:picLocks noChangeAspect="1"/>
          </p:cNvPicPr>
          <p:nvPr/>
        </p:nvPicPr>
        <p:blipFill>
          <a:blip r:embed="rId6"/>
          <a:stretch>
            <a:fillRect/>
          </a:stretch>
        </p:blipFill>
        <p:spPr>
          <a:xfrm>
            <a:off x="8385048" y="1709928"/>
            <a:ext cx="274320" cy="274320"/>
          </a:xfrm>
          <a:prstGeom prst="rect">
            <a:avLst/>
          </a:prstGeom>
        </p:spPr>
      </p:pic>
      <p:sp>
        <p:nvSpPr>
          <p:cNvPr id="19" name="Text 13"/>
          <p:cNvSpPr/>
          <p:nvPr/>
        </p:nvSpPr>
        <p:spPr>
          <a:xfrm>
            <a:off x="8906256" y="153619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Safe / Suspicious / Dangerous</a:t>
            </a:r>
            <a:endParaRPr lang="en-US" sz="1250" dirty="0"/>
          </a:p>
        </p:txBody>
      </p:sp>
      <p:sp>
        <p:nvSpPr>
          <p:cNvPr id="20" name="Text 14"/>
          <p:cNvSpPr/>
          <p:nvPr/>
        </p:nvSpPr>
        <p:spPr>
          <a:xfrm>
            <a:off x="8266176" y="217627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Simple 3-level result anyone can understand.</a:t>
            </a:r>
            <a:endParaRPr lang="en-US" sz="1050" dirty="0"/>
          </a:p>
        </p:txBody>
      </p:sp>
      <p:sp>
        <p:nvSpPr>
          <p:cNvPr id="21" name="Shape 15"/>
          <p:cNvSpPr/>
          <p:nvPr/>
        </p:nvSpPr>
        <p:spPr>
          <a:xfrm>
            <a:off x="548640" y="301752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22" name="Shape 16"/>
          <p:cNvSpPr/>
          <p:nvPr/>
        </p:nvSpPr>
        <p:spPr>
          <a:xfrm>
            <a:off x="768096" y="3236976"/>
            <a:ext cx="512064" cy="512064"/>
          </a:xfrm>
          <a:prstGeom prst="ellipse">
            <a:avLst/>
          </a:prstGeom>
          <a:solidFill>
            <a:srgbClr val="E7F3FC"/>
          </a:solidFill>
          <a:ln/>
        </p:spPr>
      </p:sp>
      <p:pic>
        <p:nvPicPr>
          <p:cNvPr id="23" name="Image 4" descr="/home/claude/phishguard/icons/dashboard.png"/>
          <p:cNvPicPr>
            <a:picLocks noChangeAspect="1"/>
          </p:cNvPicPr>
          <p:nvPr/>
        </p:nvPicPr>
        <p:blipFill>
          <a:blip r:embed="rId7"/>
          <a:stretch>
            <a:fillRect/>
          </a:stretch>
        </p:blipFill>
        <p:spPr>
          <a:xfrm>
            <a:off x="886968" y="3355848"/>
            <a:ext cx="274320" cy="274320"/>
          </a:xfrm>
          <a:prstGeom prst="rect">
            <a:avLst/>
          </a:prstGeom>
        </p:spPr>
      </p:pic>
      <p:sp>
        <p:nvSpPr>
          <p:cNvPr id="24" name="Text 17"/>
          <p:cNvSpPr/>
          <p:nvPr/>
        </p:nvSpPr>
        <p:spPr>
          <a:xfrm>
            <a:off x="1408176" y="318211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Dashboard</a:t>
            </a:r>
            <a:endParaRPr lang="en-US" sz="1250" dirty="0"/>
          </a:p>
        </p:txBody>
      </p:sp>
      <p:sp>
        <p:nvSpPr>
          <p:cNvPr id="25" name="Text 18"/>
          <p:cNvSpPr/>
          <p:nvPr/>
        </p:nvSpPr>
        <p:spPr>
          <a:xfrm>
            <a:off x="768096" y="382219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One place to view all scan results at a glance.</a:t>
            </a:r>
            <a:endParaRPr lang="en-US" sz="1050" dirty="0"/>
          </a:p>
        </p:txBody>
      </p:sp>
      <p:sp>
        <p:nvSpPr>
          <p:cNvPr id="26" name="Shape 19"/>
          <p:cNvSpPr/>
          <p:nvPr/>
        </p:nvSpPr>
        <p:spPr>
          <a:xfrm>
            <a:off x="4297680" y="301752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27" name="Shape 20"/>
          <p:cNvSpPr/>
          <p:nvPr/>
        </p:nvSpPr>
        <p:spPr>
          <a:xfrm>
            <a:off x="4517136" y="3236976"/>
            <a:ext cx="512064" cy="512064"/>
          </a:xfrm>
          <a:prstGeom prst="ellipse">
            <a:avLst/>
          </a:prstGeom>
          <a:solidFill>
            <a:srgbClr val="E6FBF7"/>
          </a:solidFill>
          <a:ln/>
        </p:spPr>
      </p:sp>
      <p:pic>
        <p:nvPicPr>
          <p:cNvPr id="28" name="Image 5" descr="/home/claude/phishguard/icons/history.png"/>
          <p:cNvPicPr>
            <a:picLocks noChangeAspect="1"/>
          </p:cNvPicPr>
          <p:nvPr/>
        </p:nvPicPr>
        <p:blipFill>
          <a:blip r:embed="rId8"/>
          <a:stretch>
            <a:fillRect/>
          </a:stretch>
        </p:blipFill>
        <p:spPr>
          <a:xfrm>
            <a:off x="4636008" y="3355848"/>
            <a:ext cx="274320" cy="274320"/>
          </a:xfrm>
          <a:prstGeom prst="rect">
            <a:avLst/>
          </a:prstGeom>
        </p:spPr>
      </p:pic>
      <p:sp>
        <p:nvSpPr>
          <p:cNvPr id="29" name="Text 21"/>
          <p:cNvSpPr/>
          <p:nvPr/>
        </p:nvSpPr>
        <p:spPr>
          <a:xfrm>
            <a:off x="5157216" y="318211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Scan History</a:t>
            </a:r>
            <a:endParaRPr lang="en-US" sz="1250" dirty="0"/>
          </a:p>
        </p:txBody>
      </p:sp>
      <p:sp>
        <p:nvSpPr>
          <p:cNvPr id="30" name="Text 22"/>
          <p:cNvSpPr/>
          <p:nvPr/>
        </p:nvSpPr>
        <p:spPr>
          <a:xfrm>
            <a:off x="4517136" y="382219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Keeps a record of every URL checked before.</a:t>
            </a:r>
            <a:endParaRPr lang="en-US" sz="1050" dirty="0"/>
          </a:p>
        </p:txBody>
      </p:sp>
      <p:sp>
        <p:nvSpPr>
          <p:cNvPr id="31" name="Shape 23"/>
          <p:cNvSpPr/>
          <p:nvPr/>
        </p:nvSpPr>
        <p:spPr>
          <a:xfrm>
            <a:off x="8046720" y="301752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32" name="Shape 24"/>
          <p:cNvSpPr/>
          <p:nvPr/>
        </p:nvSpPr>
        <p:spPr>
          <a:xfrm>
            <a:off x="8266176" y="3236976"/>
            <a:ext cx="512064" cy="512064"/>
          </a:xfrm>
          <a:prstGeom prst="ellipse">
            <a:avLst/>
          </a:prstGeom>
          <a:solidFill>
            <a:srgbClr val="E7F3FC"/>
          </a:solidFill>
          <a:ln/>
        </p:spPr>
      </p:sp>
      <p:pic>
        <p:nvPicPr>
          <p:cNvPr id="33" name="Image 6" descr="/home/claude/phishguard/icons/export.png"/>
          <p:cNvPicPr>
            <a:picLocks noChangeAspect="1"/>
          </p:cNvPicPr>
          <p:nvPr/>
        </p:nvPicPr>
        <p:blipFill>
          <a:blip r:embed="rId9"/>
          <a:stretch>
            <a:fillRect/>
          </a:stretch>
        </p:blipFill>
        <p:spPr>
          <a:xfrm>
            <a:off x="8385048" y="3355848"/>
            <a:ext cx="274320" cy="274320"/>
          </a:xfrm>
          <a:prstGeom prst="rect">
            <a:avLst/>
          </a:prstGeom>
        </p:spPr>
      </p:pic>
      <p:sp>
        <p:nvSpPr>
          <p:cNvPr id="34" name="Text 25"/>
          <p:cNvSpPr/>
          <p:nvPr/>
        </p:nvSpPr>
        <p:spPr>
          <a:xfrm>
            <a:off x="8906256" y="318211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Export Reports</a:t>
            </a:r>
            <a:endParaRPr lang="en-US" sz="1250" dirty="0"/>
          </a:p>
        </p:txBody>
      </p:sp>
      <p:sp>
        <p:nvSpPr>
          <p:cNvPr id="35" name="Text 26"/>
          <p:cNvSpPr/>
          <p:nvPr/>
        </p:nvSpPr>
        <p:spPr>
          <a:xfrm>
            <a:off x="8266176" y="382219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Download scan results for records or sharing.</a:t>
            </a:r>
            <a:endParaRPr lang="en-US" sz="1050" dirty="0"/>
          </a:p>
        </p:txBody>
      </p:sp>
      <p:sp>
        <p:nvSpPr>
          <p:cNvPr id="36" name="Shape 27"/>
          <p:cNvSpPr/>
          <p:nvPr/>
        </p:nvSpPr>
        <p:spPr>
          <a:xfrm>
            <a:off x="548640" y="4663440"/>
            <a:ext cx="3429000" cy="1417320"/>
          </a:xfrm>
          <a:prstGeom prst="roundRect">
            <a:avLst>
              <a:gd name="adj" fmla="val 6452"/>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37" name="Shape 28"/>
          <p:cNvSpPr/>
          <p:nvPr/>
        </p:nvSpPr>
        <p:spPr>
          <a:xfrm>
            <a:off x="768096" y="4882896"/>
            <a:ext cx="512064" cy="512064"/>
          </a:xfrm>
          <a:prstGeom prst="ellipse">
            <a:avLst/>
          </a:prstGeom>
          <a:solidFill>
            <a:srgbClr val="E6FBF7"/>
          </a:solidFill>
          <a:ln/>
        </p:spPr>
      </p:sp>
      <p:pic>
        <p:nvPicPr>
          <p:cNvPr id="38" name="Image 7" descr="/home/claude/phishguard/icons/responsive.png"/>
          <p:cNvPicPr>
            <a:picLocks noChangeAspect="1"/>
          </p:cNvPicPr>
          <p:nvPr/>
        </p:nvPicPr>
        <p:blipFill>
          <a:blip r:embed="rId10"/>
          <a:stretch>
            <a:fillRect/>
          </a:stretch>
        </p:blipFill>
        <p:spPr>
          <a:xfrm>
            <a:off x="886968" y="5001768"/>
            <a:ext cx="274320" cy="274320"/>
          </a:xfrm>
          <a:prstGeom prst="rect">
            <a:avLst/>
          </a:prstGeom>
        </p:spPr>
      </p:pic>
      <p:sp>
        <p:nvSpPr>
          <p:cNvPr id="39" name="Text 29"/>
          <p:cNvSpPr/>
          <p:nvPr/>
        </p:nvSpPr>
        <p:spPr>
          <a:xfrm>
            <a:off x="1408176" y="4828032"/>
            <a:ext cx="2350008" cy="457200"/>
          </a:xfrm>
          <a:prstGeom prst="rect">
            <a:avLst/>
          </a:prstGeom>
          <a:noFill/>
          <a:ln/>
        </p:spPr>
        <p:txBody>
          <a:bodyPr wrap="square" lIns="0" tIns="0" rIns="0" bIns="0" rtlCol="0" anchor="t"/>
          <a:lstStyle/>
          <a:p>
            <a:pPr marL="0" indent="0">
              <a:buNone/>
            </a:pPr>
            <a:r>
              <a:rPr lang="en-US" sz="1250" b="1" dirty="0">
                <a:solidFill>
                  <a:srgbClr val="0A1128"/>
                </a:solidFill>
                <a:latin typeface="Century Schoolbook" pitchFamily="34" charset="0"/>
                <a:ea typeface="Century Schoolbook" pitchFamily="34" charset="-122"/>
                <a:cs typeface="Century Schoolbook" pitchFamily="34" charset="-120"/>
              </a:rPr>
              <a:t>Responsive UI</a:t>
            </a:r>
            <a:endParaRPr lang="en-US" sz="1250" dirty="0"/>
          </a:p>
        </p:txBody>
      </p:sp>
      <p:sp>
        <p:nvSpPr>
          <p:cNvPr id="40" name="Text 30"/>
          <p:cNvSpPr/>
          <p:nvPr/>
        </p:nvSpPr>
        <p:spPr>
          <a:xfrm>
            <a:off x="768096" y="546811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51607A"/>
                </a:solidFill>
                <a:latin typeface="Calibri" pitchFamily="34" charset="0"/>
                <a:ea typeface="Calibri" pitchFamily="34" charset="-122"/>
                <a:cs typeface="Calibri" pitchFamily="34" charset="-120"/>
              </a:rPr>
              <a:t>Works smoothly on desktop, tablet, and mobile.</a:t>
            </a:r>
            <a:endParaRPr lang="en-US" sz="1050" dirty="0"/>
          </a:p>
        </p:txBody>
      </p:sp>
      <p:sp>
        <p:nvSpPr>
          <p:cNvPr id="41" name="Shape 31"/>
          <p:cNvSpPr/>
          <p:nvPr/>
        </p:nvSpPr>
        <p:spPr>
          <a:xfrm>
            <a:off x="4297680" y="4663440"/>
            <a:ext cx="3429000" cy="1417320"/>
          </a:xfrm>
          <a:prstGeom prst="roundRect">
            <a:avLst>
              <a:gd name="adj" fmla="val 6452"/>
            </a:avLst>
          </a:prstGeom>
          <a:solidFill>
            <a:srgbClr val="0A1128"/>
          </a:solidFill>
          <a:ln/>
        </p:spPr>
      </p:sp>
      <p:sp>
        <p:nvSpPr>
          <p:cNvPr id="42" name="Shape 32"/>
          <p:cNvSpPr/>
          <p:nvPr/>
        </p:nvSpPr>
        <p:spPr>
          <a:xfrm>
            <a:off x="4517136" y="4882896"/>
            <a:ext cx="512064" cy="512064"/>
          </a:xfrm>
          <a:prstGeom prst="ellipse">
            <a:avLst/>
          </a:prstGeom>
          <a:solidFill>
            <a:srgbClr val="1B98E0"/>
          </a:solidFill>
          <a:ln/>
        </p:spPr>
      </p:sp>
      <p:pic>
        <p:nvPicPr>
          <p:cNvPr id="43" name="Image 8" descr="/home/claude/phishguard/icons/shield_title.png"/>
          <p:cNvPicPr>
            <a:picLocks noChangeAspect="1"/>
          </p:cNvPicPr>
          <p:nvPr/>
        </p:nvPicPr>
        <p:blipFill>
          <a:blip r:embed="rId11"/>
          <a:stretch>
            <a:fillRect/>
          </a:stretch>
        </p:blipFill>
        <p:spPr>
          <a:xfrm>
            <a:off x="4645152" y="5010912"/>
            <a:ext cx="256032" cy="256032"/>
          </a:xfrm>
          <a:prstGeom prst="rect">
            <a:avLst/>
          </a:prstGeom>
        </p:spPr>
      </p:pic>
      <p:sp>
        <p:nvSpPr>
          <p:cNvPr id="44" name="Text 33"/>
          <p:cNvSpPr/>
          <p:nvPr/>
        </p:nvSpPr>
        <p:spPr>
          <a:xfrm>
            <a:off x="5157216" y="4828032"/>
            <a:ext cx="2350008" cy="457200"/>
          </a:xfrm>
          <a:prstGeom prst="rect">
            <a:avLst/>
          </a:prstGeom>
          <a:noFill/>
          <a:ln/>
        </p:spPr>
        <p:txBody>
          <a:bodyPr wrap="square" lIns="0" tIns="0" rIns="0" bIns="0" rtlCol="0" anchor="t"/>
          <a:lstStyle/>
          <a:p>
            <a:pPr marL="0" indent="0">
              <a:buNone/>
            </a:pPr>
            <a:r>
              <a:rPr lang="en-US" sz="1250" b="1" dirty="0">
                <a:solidFill>
                  <a:srgbClr val="FFFFFF"/>
                </a:solidFill>
                <a:latin typeface="Century Schoolbook" pitchFamily="34" charset="0"/>
                <a:ea typeface="Century Schoolbook" pitchFamily="34" charset="-122"/>
                <a:cs typeface="Century Schoolbook" pitchFamily="34" charset="-120"/>
              </a:rPr>
              <a:t>Built for Everyone</a:t>
            </a:r>
            <a:endParaRPr lang="en-US" sz="1250" dirty="0"/>
          </a:p>
        </p:txBody>
      </p:sp>
      <p:sp>
        <p:nvSpPr>
          <p:cNvPr id="45" name="Text 34"/>
          <p:cNvSpPr/>
          <p:nvPr/>
        </p:nvSpPr>
        <p:spPr>
          <a:xfrm>
            <a:off x="4517136" y="5468112"/>
            <a:ext cx="2990088" cy="502920"/>
          </a:xfrm>
          <a:prstGeom prst="rect">
            <a:avLst/>
          </a:prstGeom>
          <a:noFill/>
          <a:ln/>
        </p:spPr>
        <p:txBody>
          <a:bodyPr wrap="square" lIns="0" tIns="0" rIns="0" bIns="0" rtlCol="0" anchor="ctr"/>
          <a:lstStyle/>
          <a:p>
            <a:pPr marL="0" indent="0">
              <a:lnSpc>
                <a:spcPct val="110000"/>
              </a:lnSpc>
              <a:buNone/>
            </a:pPr>
            <a:r>
              <a:rPr lang="en-US" sz="1050" dirty="0">
                <a:solidFill>
                  <a:srgbClr val="C7D6EA"/>
                </a:solidFill>
                <a:latin typeface="Calibri" pitchFamily="34" charset="0"/>
                <a:ea typeface="Calibri" pitchFamily="34" charset="-122"/>
                <a:cs typeface="Calibri" pitchFamily="34" charset="-120"/>
              </a:rPr>
              <a:t>No technical knowledge needed — paste a link and get an instant result.</a:t>
            </a:r>
            <a:endParaRPr lang="en-US" sz="1050" dirty="0"/>
          </a:p>
        </p:txBody>
      </p:sp>
      <p:sp>
        <p:nvSpPr>
          <p:cNvPr id="46" name="Text 35"/>
          <p:cNvSpPr/>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1607A"/>
                </a:solidFill>
                <a:latin typeface="Calibri" pitchFamily="34" charset="0"/>
                <a:ea typeface="Calibri" pitchFamily="34" charset="-122"/>
                <a:cs typeface="Calibri" pitchFamily="34" charset="-120"/>
              </a:rPr>
              <a:t>PhishGuard  |  Phishing URL Detection System</a:t>
            </a:r>
            <a:endParaRPr lang="en-US" sz="900" dirty="0"/>
          </a:p>
        </p:txBody>
      </p:sp>
      <p:sp>
        <p:nvSpPr>
          <p:cNvPr id="47" name="Text 36"/>
          <p:cNvSpPr/>
          <p:nvPr/>
        </p:nvSpPr>
        <p:spPr>
          <a:xfrm>
            <a:off x="11430000" y="6547104"/>
            <a:ext cx="365760" cy="256032"/>
          </a:xfrm>
          <a:prstGeom prst="rect">
            <a:avLst/>
          </a:prstGeom>
          <a:noFill/>
          <a:ln/>
        </p:spPr>
        <p:txBody>
          <a:bodyPr wrap="square" lIns="0" tIns="0" rIns="0" bIns="0" rtlCol="0" anchor="ctr"/>
          <a:lstStyle/>
          <a:p>
            <a:pPr marL="0" indent="0" algn="r">
              <a:buNone/>
            </a:pPr>
            <a:r>
              <a:rPr lang="en-US" sz="900" dirty="0">
                <a:solidFill>
                  <a:srgbClr val="5160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lIns="0" tIns="0" rIns="0" bIns="0" rtlCol="0" anchor="ctr"/>
          <a:lstStyle/>
          <a:p>
            <a:pPr marL="0" indent="0">
              <a:buNone/>
            </a:pPr>
            <a:r>
              <a:rPr lang="en-US" sz="1100" b="1" kern="0" spc="200" dirty="0">
                <a:solidFill>
                  <a:srgbClr val="1B98E0"/>
                </a:solidFill>
                <a:latin typeface="Calibri" pitchFamily="34" charset="0"/>
                <a:ea typeface="Calibri" pitchFamily="34" charset="-122"/>
                <a:cs typeface="Calibri" pitchFamily="34" charset="-120"/>
              </a:rPr>
              <a:t>HOW IT'S BUILT</a:t>
            </a:r>
            <a:endParaRPr lang="en-US" sz="1100" dirty="0"/>
          </a:p>
        </p:txBody>
      </p:sp>
      <p:sp>
        <p:nvSpPr>
          <p:cNvPr id="3" name="Text 1"/>
          <p:cNvSpPr/>
          <p:nvPr/>
        </p:nvSpPr>
        <p:spPr>
          <a:xfrm>
            <a:off x="548640" y="566928"/>
            <a:ext cx="10515600" cy="685800"/>
          </a:xfrm>
          <a:prstGeom prst="rect">
            <a:avLst/>
          </a:prstGeom>
          <a:noFill/>
          <a:ln/>
        </p:spPr>
        <p:txBody>
          <a:bodyPr wrap="square" lIns="0" tIns="0" rIns="0" bIns="0" rtlCol="0" anchor="ctr"/>
          <a:lstStyle/>
          <a:p>
            <a:pPr marL="0" indent="0">
              <a:buNone/>
            </a:pPr>
            <a:r>
              <a:rPr lang="en-US" sz="3200" b="1" dirty="0">
                <a:solidFill>
                  <a:srgbClr val="0A1128"/>
                </a:solidFill>
                <a:latin typeface="Century Schoolbook" pitchFamily="34" charset="0"/>
                <a:ea typeface="Century Schoolbook" pitchFamily="34" charset="-122"/>
                <a:cs typeface="Century Schoolbook" pitchFamily="34" charset="-120"/>
              </a:rPr>
              <a:t>Technology Stack &amp; Architecture</a:t>
            </a:r>
            <a:endParaRPr lang="en-US" sz="3200" dirty="0"/>
          </a:p>
        </p:txBody>
      </p:sp>
      <p:sp>
        <p:nvSpPr>
          <p:cNvPr id="4" name="Shape 2"/>
          <p:cNvSpPr/>
          <p:nvPr/>
        </p:nvSpPr>
        <p:spPr>
          <a:xfrm>
            <a:off x="11292840" y="365760"/>
            <a:ext cx="384048" cy="384048"/>
          </a:xfrm>
          <a:prstGeom prst="ellipse">
            <a:avLst/>
          </a:prstGeom>
          <a:solidFill>
            <a:srgbClr val="0A1128"/>
          </a:solidFill>
          <a:ln/>
        </p:spPr>
      </p:sp>
      <p:pic>
        <p:nvPicPr>
          <p:cNvPr id="5" name="Image 0" descr="/home/claude/phishguard/icons/lock.png"/>
          <p:cNvPicPr>
            <a:picLocks noChangeAspect="1"/>
          </p:cNvPicPr>
          <p:nvPr/>
        </p:nvPicPr>
        <p:blipFill>
          <a:blip r:embed="rId3"/>
          <a:stretch>
            <a:fillRect/>
          </a:stretch>
        </p:blipFill>
        <p:spPr>
          <a:xfrm>
            <a:off x="11393424" y="466344"/>
            <a:ext cx="182880" cy="182880"/>
          </a:xfrm>
          <a:prstGeom prst="rect">
            <a:avLst/>
          </a:prstGeom>
        </p:spPr>
      </p:pic>
      <p:sp>
        <p:nvSpPr>
          <p:cNvPr id="6" name="Shape 3"/>
          <p:cNvSpPr/>
          <p:nvPr/>
        </p:nvSpPr>
        <p:spPr>
          <a:xfrm>
            <a:off x="548640" y="1417320"/>
            <a:ext cx="5394960" cy="2286000"/>
          </a:xfrm>
          <a:prstGeom prst="roundRect">
            <a:avLst>
              <a:gd name="adj" fmla="val 4000"/>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7" name="Shape 4"/>
          <p:cNvSpPr/>
          <p:nvPr/>
        </p:nvSpPr>
        <p:spPr>
          <a:xfrm>
            <a:off x="822960" y="1673352"/>
            <a:ext cx="1554480" cy="384048"/>
          </a:xfrm>
          <a:prstGeom prst="roundRect">
            <a:avLst>
              <a:gd name="adj" fmla="val 19048"/>
            </a:avLst>
          </a:prstGeom>
          <a:solidFill>
            <a:srgbClr val="1B98E0"/>
          </a:solidFill>
          <a:ln/>
        </p:spPr>
      </p:sp>
      <p:sp>
        <p:nvSpPr>
          <p:cNvPr id="8" name="Text 5"/>
          <p:cNvSpPr/>
          <p:nvPr/>
        </p:nvSpPr>
        <p:spPr>
          <a:xfrm>
            <a:off x="822960" y="1673352"/>
            <a:ext cx="15544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9" name="Shape 6"/>
          <p:cNvSpPr/>
          <p:nvPr/>
        </p:nvSpPr>
        <p:spPr>
          <a:xfrm>
            <a:off x="868680" y="2331720"/>
            <a:ext cx="548640" cy="548640"/>
          </a:xfrm>
          <a:prstGeom prst="ellipse">
            <a:avLst/>
          </a:prstGeom>
          <a:solidFill>
            <a:srgbClr val="F4F8FC"/>
          </a:solidFill>
          <a:ln/>
        </p:spPr>
      </p:sp>
      <p:pic>
        <p:nvPicPr>
          <p:cNvPr id="10" name="Image 1" descr="/home/claude/phishguard/icons/react_icon.png"/>
          <p:cNvPicPr>
            <a:picLocks noChangeAspect="1"/>
          </p:cNvPicPr>
          <p:nvPr/>
        </p:nvPicPr>
        <p:blipFill>
          <a:blip r:embed="rId4"/>
          <a:stretch>
            <a:fillRect/>
          </a:stretch>
        </p:blipFill>
        <p:spPr>
          <a:xfrm>
            <a:off x="969264" y="2432304"/>
            <a:ext cx="347472" cy="347472"/>
          </a:xfrm>
          <a:prstGeom prst="rect">
            <a:avLst/>
          </a:prstGeom>
        </p:spPr>
      </p:pic>
      <p:sp>
        <p:nvSpPr>
          <p:cNvPr id="11" name="Shape 7"/>
          <p:cNvSpPr/>
          <p:nvPr/>
        </p:nvSpPr>
        <p:spPr>
          <a:xfrm>
            <a:off x="868680" y="2331720"/>
            <a:ext cx="548640" cy="548640"/>
          </a:xfrm>
          <a:prstGeom prst="ellipse">
            <a:avLst/>
          </a:prstGeom>
          <a:ln w="12700">
            <a:solidFill>
              <a:srgbClr val="E1E8F2"/>
            </a:solidFill>
            <a:prstDash val="solid"/>
          </a:ln>
        </p:spPr>
      </p:sp>
      <p:sp>
        <p:nvSpPr>
          <p:cNvPr id="12" name="Text 8"/>
          <p:cNvSpPr/>
          <p:nvPr/>
        </p:nvSpPr>
        <p:spPr>
          <a:xfrm>
            <a:off x="548640"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React</a:t>
            </a:r>
            <a:endParaRPr lang="en-US" sz="1050" dirty="0"/>
          </a:p>
        </p:txBody>
      </p:sp>
      <p:sp>
        <p:nvSpPr>
          <p:cNvPr id="13" name="Shape 9"/>
          <p:cNvSpPr/>
          <p:nvPr/>
        </p:nvSpPr>
        <p:spPr>
          <a:xfrm>
            <a:off x="2130552" y="2331720"/>
            <a:ext cx="548640" cy="548640"/>
          </a:xfrm>
          <a:prstGeom prst="ellipse">
            <a:avLst/>
          </a:prstGeom>
          <a:solidFill>
            <a:srgbClr val="F4F8FC"/>
          </a:solidFill>
          <a:ln/>
        </p:spPr>
      </p:sp>
      <p:pic>
        <p:nvPicPr>
          <p:cNvPr id="14" name="Image 2" descr="/home/claude/phishguard/icons/ts_icon.png"/>
          <p:cNvPicPr>
            <a:picLocks noChangeAspect="1"/>
          </p:cNvPicPr>
          <p:nvPr/>
        </p:nvPicPr>
        <p:blipFill>
          <a:blip r:embed="rId5"/>
          <a:stretch>
            <a:fillRect/>
          </a:stretch>
        </p:blipFill>
        <p:spPr>
          <a:xfrm>
            <a:off x="2231136" y="2432304"/>
            <a:ext cx="347472" cy="347472"/>
          </a:xfrm>
          <a:prstGeom prst="rect">
            <a:avLst/>
          </a:prstGeom>
        </p:spPr>
      </p:pic>
      <p:sp>
        <p:nvSpPr>
          <p:cNvPr id="15" name="Shape 10"/>
          <p:cNvSpPr/>
          <p:nvPr/>
        </p:nvSpPr>
        <p:spPr>
          <a:xfrm>
            <a:off x="2130552" y="2331720"/>
            <a:ext cx="548640" cy="548640"/>
          </a:xfrm>
          <a:prstGeom prst="ellipse">
            <a:avLst/>
          </a:prstGeom>
          <a:ln w="12700">
            <a:solidFill>
              <a:srgbClr val="E1E8F2"/>
            </a:solidFill>
            <a:prstDash val="solid"/>
          </a:ln>
        </p:spPr>
      </p:sp>
      <p:sp>
        <p:nvSpPr>
          <p:cNvPr id="16" name="Text 11"/>
          <p:cNvSpPr/>
          <p:nvPr/>
        </p:nvSpPr>
        <p:spPr>
          <a:xfrm>
            <a:off x="1810512"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TypeScript</a:t>
            </a:r>
            <a:endParaRPr lang="en-US" sz="1050" dirty="0"/>
          </a:p>
        </p:txBody>
      </p:sp>
      <p:sp>
        <p:nvSpPr>
          <p:cNvPr id="17" name="Shape 12"/>
          <p:cNvSpPr/>
          <p:nvPr/>
        </p:nvSpPr>
        <p:spPr>
          <a:xfrm>
            <a:off x="3392424" y="2331720"/>
            <a:ext cx="548640" cy="548640"/>
          </a:xfrm>
          <a:prstGeom prst="ellipse">
            <a:avLst/>
          </a:prstGeom>
          <a:solidFill>
            <a:srgbClr val="F4F8FC"/>
          </a:solidFill>
          <a:ln/>
        </p:spPr>
      </p:sp>
      <p:pic>
        <p:nvPicPr>
          <p:cNvPr id="18" name="Image 3" descr="/home/claude/phishguard/icons/tailwind_icon.png"/>
          <p:cNvPicPr>
            <a:picLocks noChangeAspect="1"/>
          </p:cNvPicPr>
          <p:nvPr/>
        </p:nvPicPr>
        <p:blipFill>
          <a:blip r:embed="rId6"/>
          <a:stretch>
            <a:fillRect/>
          </a:stretch>
        </p:blipFill>
        <p:spPr>
          <a:xfrm>
            <a:off x="3493008" y="2432304"/>
            <a:ext cx="347472" cy="347472"/>
          </a:xfrm>
          <a:prstGeom prst="rect">
            <a:avLst/>
          </a:prstGeom>
        </p:spPr>
      </p:pic>
      <p:sp>
        <p:nvSpPr>
          <p:cNvPr id="19" name="Shape 13"/>
          <p:cNvSpPr/>
          <p:nvPr/>
        </p:nvSpPr>
        <p:spPr>
          <a:xfrm>
            <a:off x="3392424" y="2331720"/>
            <a:ext cx="548640" cy="548640"/>
          </a:xfrm>
          <a:prstGeom prst="ellipse">
            <a:avLst/>
          </a:prstGeom>
          <a:ln w="12700">
            <a:solidFill>
              <a:srgbClr val="E1E8F2"/>
            </a:solidFill>
            <a:prstDash val="solid"/>
          </a:ln>
        </p:spPr>
      </p:sp>
      <p:sp>
        <p:nvSpPr>
          <p:cNvPr id="20" name="Text 14"/>
          <p:cNvSpPr/>
          <p:nvPr/>
        </p:nvSpPr>
        <p:spPr>
          <a:xfrm>
            <a:off x="3072384"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Tailwind CSS</a:t>
            </a:r>
            <a:endParaRPr lang="en-US" sz="1050" dirty="0"/>
          </a:p>
        </p:txBody>
      </p:sp>
      <p:sp>
        <p:nvSpPr>
          <p:cNvPr id="21" name="Shape 15"/>
          <p:cNvSpPr/>
          <p:nvPr/>
        </p:nvSpPr>
        <p:spPr>
          <a:xfrm>
            <a:off x="4654296" y="2331720"/>
            <a:ext cx="548640" cy="548640"/>
          </a:xfrm>
          <a:prstGeom prst="ellipse">
            <a:avLst/>
          </a:prstGeom>
          <a:solidFill>
            <a:srgbClr val="F4F8FC"/>
          </a:solidFill>
          <a:ln/>
        </p:spPr>
      </p:sp>
      <p:pic>
        <p:nvPicPr>
          <p:cNvPr id="22" name="Image 4" descr="/home/claude/phishguard/icons/vite_icon.png"/>
          <p:cNvPicPr>
            <a:picLocks noChangeAspect="1"/>
          </p:cNvPicPr>
          <p:nvPr/>
        </p:nvPicPr>
        <p:blipFill>
          <a:blip r:embed="rId7"/>
          <a:stretch>
            <a:fillRect/>
          </a:stretch>
        </p:blipFill>
        <p:spPr>
          <a:xfrm>
            <a:off x="4754880" y="2432304"/>
            <a:ext cx="347472" cy="347472"/>
          </a:xfrm>
          <a:prstGeom prst="rect">
            <a:avLst/>
          </a:prstGeom>
        </p:spPr>
      </p:pic>
      <p:sp>
        <p:nvSpPr>
          <p:cNvPr id="23" name="Shape 16"/>
          <p:cNvSpPr/>
          <p:nvPr/>
        </p:nvSpPr>
        <p:spPr>
          <a:xfrm>
            <a:off x="4654296" y="2331720"/>
            <a:ext cx="548640" cy="548640"/>
          </a:xfrm>
          <a:prstGeom prst="ellipse">
            <a:avLst/>
          </a:prstGeom>
          <a:ln w="12700">
            <a:solidFill>
              <a:srgbClr val="E1E8F2"/>
            </a:solidFill>
            <a:prstDash val="solid"/>
          </a:ln>
        </p:spPr>
      </p:sp>
      <p:sp>
        <p:nvSpPr>
          <p:cNvPr id="24" name="Text 17"/>
          <p:cNvSpPr/>
          <p:nvPr/>
        </p:nvSpPr>
        <p:spPr>
          <a:xfrm>
            <a:off x="4334256"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Vite</a:t>
            </a:r>
            <a:endParaRPr lang="en-US" sz="1050" dirty="0"/>
          </a:p>
        </p:txBody>
      </p:sp>
      <p:sp>
        <p:nvSpPr>
          <p:cNvPr id="25" name="Shape 18"/>
          <p:cNvSpPr/>
          <p:nvPr/>
        </p:nvSpPr>
        <p:spPr>
          <a:xfrm>
            <a:off x="6217920" y="1417320"/>
            <a:ext cx="5394960" cy="2286000"/>
          </a:xfrm>
          <a:prstGeom prst="roundRect">
            <a:avLst>
              <a:gd name="adj" fmla="val 4000"/>
            </a:avLst>
          </a:prstGeom>
          <a:solidFill>
            <a:srgbClr val="FFFFFF"/>
          </a:solidFill>
          <a:ln w="12700">
            <a:solidFill>
              <a:srgbClr val="E1E8F2"/>
            </a:solidFill>
            <a:prstDash val="solid"/>
          </a:ln>
          <a:effectLst>
            <a:outerShdw blurRad="76200" dist="25400" dir="5400000" algn="bl" rotWithShape="0">
              <a:srgbClr val="3A6EA5">
                <a:alpha val="13000"/>
              </a:srgbClr>
            </a:outerShdw>
          </a:effectLst>
        </p:spPr>
      </p:sp>
      <p:sp>
        <p:nvSpPr>
          <p:cNvPr id="26" name="Shape 19"/>
          <p:cNvSpPr/>
          <p:nvPr/>
        </p:nvSpPr>
        <p:spPr>
          <a:xfrm>
            <a:off x="6492240" y="1673352"/>
            <a:ext cx="1554480" cy="384048"/>
          </a:xfrm>
          <a:prstGeom prst="roundRect">
            <a:avLst>
              <a:gd name="adj" fmla="val 19048"/>
            </a:avLst>
          </a:prstGeom>
          <a:solidFill>
            <a:srgbClr val="1D3A6E"/>
          </a:solidFill>
          <a:ln/>
        </p:spPr>
      </p:sp>
      <p:sp>
        <p:nvSpPr>
          <p:cNvPr id="27" name="Text 20"/>
          <p:cNvSpPr/>
          <p:nvPr/>
        </p:nvSpPr>
        <p:spPr>
          <a:xfrm>
            <a:off x="6492240" y="1673352"/>
            <a:ext cx="15544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28" name="Shape 21"/>
          <p:cNvSpPr/>
          <p:nvPr/>
        </p:nvSpPr>
        <p:spPr>
          <a:xfrm>
            <a:off x="6537960" y="2331720"/>
            <a:ext cx="548640" cy="548640"/>
          </a:xfrm>
          <a:prstGeom prst="ellipse">
            <a:avLst/>
          </a:prstGeom>
          <a:solidFill>
            <a:srgbClr val="F4F8FC"/>
          </a:solidFill>
          <a:ln/>
        </p:spPr>
      </p:sp>
      <p:pic>
        <p:nvPicPr>
          <p:cNvPr id="29" name="Image 5" descr="/home/claude/phishguard/icons/python_icon.png"/>
          <p:cNvPicPr>
            <a:picLocks noChangeAspect="1"/>
          </p:cNvPicPr>
          <p:nvPr/>
        </p:nvPicPr>
        <p:blipFill>
          <a:blip r:embed="rId8"/>
          <a:stretch>
            <a:fillRect/>
          </a:stretch>
        </p:blipFill>
        <p:spPr>
          <a:xfrm>
            <a:off x="6638544" y="2432304"/>
            <a:ext cx="347472" cy="347472"/>
          </a:xfrm>
          <a:prstGeom prst="rect">
            <a:avLst/>
          </a:prstGeom>
        </p:spPr>
      </p:pic>
      <p:sp>
        <p:nvSpPr>
          <p:cNvPr id="30" name="Shape 22"/>
          <p:cNvSpPr/>
          <p:nvPr/>
        </p:nvSpPr>
        <p:spPr>
          <a:xfrm>
            <a:off x="6537960" y="2331720"/>
            <a:ext cx="548640" cy="548640"/>
          </a:xfrm>
          <a:prstGeom prst="ellipse">
            <a:avLst/>
          </a:prstGeom>
          <a:ln w="12700">
            <a:solidFill>
              <a:srgbClr val="E1E8F2"/>
            </a:solidFill>
            <a:prstDash val="solid"/>
          </a:ln>
        </p:spPr>
      </p:sp>
      <p:sp>
        <p:nvSpPr>
          <p:cNvPr id="31" name="Text 23"/>
          <p:cNvSpPr/>
          <p:nvPr/>
        </p:nvSpPr>
        <p:spPr>
          <a:xfrm>
            <a:off x="6217920"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FastAPI</a:t>
            </a:r>
            <a:endParaRPr lang="en-US" sz="1050" dirty="0"/>
          </a:p>
        </p:txBody>
      </p:sp>
      <p:sp>
        <p:nvSpPr>
          <p:cNvPr id="32" name="Shape 24"/>
          <p:cNvSpPr/>
          <p:nvPr/>
        </p:nvSpPr>
        <p:spPr>
          <a:xfrm>
            <a:off x="7799832" y="2331720"/>
            <a:ext cx="548640" cy="548640"/>
          </a:xfrm>
          <a:prstGeom prst="ellipse">
            <a:avLst/>
          </a:prstGeom>
          <a:solidFill>
            <a:srgbClr val="F4F8FC"/>
          </a:solidFill>
          <a:ln/>
        </p:spPr>
      </p:sp>
      <p:pic>
        <p:nvPicPr>
          <p:cNvPr id="33" name="Image 6" descr="/home/claude/phishguard/icons/sqlalchemy_icon.png"/>
          <p:cNvPicPr>
            <a:picLocks noChangeAspect="1"/>
          </p:cNvPicPr>
          <p:nvPr/>
        </p:nvPicPr>
        <p:blipFill>
          <a:blip r:embed="rId9"/>
          <a:stretch>
            <a:fillRect/>
          </a:stretch>
        </p:blipFill>
        <p:spPr>
          <a:xfrm>
            <a:off x="7900416" y="2432304"/>
            <a:ext cx="347472" cy="347472"/>
          </a:xfrm>
          <a:prstGeom prst="rect">
            <a:avLst/>
          </a:prstGeom>
        </p:spPr>
      </p:pic>
      <p:sp>
        <p:nvSpPr>
          <p:cNvPr id="34" name="Shape 25"/>
          <p:cNvSpPr/>
          <p:nvPr/>
        </p:nvSpPr>
        <p:spPr>
          <a:xfrm>
            <a:off x="7799832" y="2331720"/>
            <a:ext cx="548640" cy="548640"/>
          </a:xfrm>
          <a:prstGeom prst="ellipse">
            <a:avLst/>
          </a:prstGeom>
          <a:ln w="12700">
            <a:solidFill>
              <a:srgbClr val="E1E8F2"/>
            </a:solidFill>
            <a:prstDash val="solid"/>
          </a:ln>
        </p:spPr>
      </p:sp>
      <p:sp>
        <p:nvSpPr>
          <p:cNvPr id="35" name="Text 26"/>
          <p:cNvSpPr/>
          <p:nvPr/>
        </p:nvSpPr>
        <p:spPr>
          <a:xfrm>
            <a:off x="7479792"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SQLAlchemy</a:t>
            </a:r>
            <a:endParaRPr lang="en-US" sz="1050" dirty="0"/>
          </a:p>
        </p:txBody>
      </p:sp>
      <p:sp>
        <p:nvSpPr>
          <p:cNvPr id="36" name="Shape 27"/>
          <p:cNvSpPr/>
          <p:nvPr/>
        </p:nvSpPr>
        <p:spPr>
          <a:xfrm>
            <a:off x="9061704" y="2331720"/>
            <a:ext cx="548640" cy="548640"/>
          </a:xfrm>
          <a:prstGeom prst="ellipse">
            <a:avLst/>
          </a:prstGeom>
          <a:solidFill>
            <a:srgbClr val="F4F8FC"/>
          </a:solidFill>
          <a:ln/>
        </p:spPr>
      </p:sp>
      <p:pic>
        <p:nvPicPr>
          <p:cNvPr id="37" name="Image 7" descr="/home/claude/phishguard/icons/sqlite_icon.png"/>
          <p:cNvPicPr>
            <a:picLocks noChangeAspect="1"/>
          </p:cNvPicPr>
          <p:nvPr/>
        </p:nvPicPr>
        <p:blipFill>
          <a:blip r:embed="rId10"/>
          <a:stretch>
            <a:fillRect/>
          </a:stretch>
        </p:blipFill>
        <p:spPr>
          <a:xfrm>
            <a:off x="9162288" y="2432304"/>
            <a:ext cx="347472" cy="347472"/>
          </a:xfrm>
          <a:prstGeom prst="rect">
            <a:avLst/>
          </a:prstGeom>
        </p:spPr>
      </p:pic>
      <p:sp>
        <p:nvSpPr>
          <p:cNvPr id="38" name="Shape 28"/>
          <p:cNvSpPr/>
          <p:nvPr/>
        </p:nvSpPr>
        <p:spPr>
          <a:xfrm>
            <a:off x="9061704" y="2331720"/>
            <a:ext cx="548640" cy="548640"/>
          </a:xfrm>
          <a:prstGeom prst="ellipse">
            <a:avLst/>
          </a:prstGeom>
          <a:ln w="12700">
            <a:solidFill>
              <a:srgbClr val="E1E8F2"/>
            </a:solidFill>
            <a:prstDash val="solid"/>
          </a:ln>
        </p:spPr>
      </p:sp>
      <p:sp>
        <p:nvSpPr>
          <p:cNvPr id="39" name="Text 29"/>
          <p:cNvSpPr/>
          <p:nvPr/>
        </p:nvSpPr>
        <p:spPr>
          <a:xfrm>
            <a:off x="8741664" y="2971800"/>
            <a:ext cx="1188720" cy="502920"/>
          </a:xfrm>
          <a:prstGeom prst="rect">
            <a:avLst/>
          </a:prstGeom>
          <a:noFill/>
          <a:ln/>
        </p:spPr>
        <p:txBody>
          <a:bodyPr wrap="square" lIns="0" tIns="0" rIns="0" bIns="0" rtlCol="0" anchor="ctr"/>
          <a:lstStyle/>
          <a:p>
            <a:pPr marL="0" indent="0" algn="ctr">
              <a:buNone/>
            </a:pPr>
            <a:r>
              <a:rPr lang="en-US" sz="1050" b="1" dirty="0">
                <a:solidFill>
                  <a:srgbClr val="0A1128"/>
                </a:solidFill>
                <a:latin typeface="Calibri" pitchFamily="34" charset="0"/>
                <a:ea typeface="Calibri" pitchFamily="34" charset="-122"/>
                <a:cs typeface="Calibri" pitchFamily="34" charset="-120"/>
              </a:rPr>
              <a:t>SQLite</a:t>
            </a:r>
            <a:endParaRPr lang="en-US" sz="1050" dirty="0"/>
          </a:p>
        </p:txBody>
      </p:sp>
      <p:sp>
        <p:nvSpPr>
          <p:cNvPr id="40" name="Text 30"/>
          <p:cNvSpPr/>
          <p:nvPr/>
        </p:nvSpPr>
        <p:spPr>
          <a:xfrm>
            <a:off x="548640" y="3977640"/>
            <a:ext cx="5486400" cy="274320"/>
          </a:xfrm>
          <a:prstGeom prst="rect">
            <a:avLst/>
          </a:prstGeom>
          <a:noFill/>
          <a:ln/>
        </p:spPr>
        <p:txBody>
          <a:bodyPr wrap="square" lIns="0" tIns="0" rIns="0" bIns="0" rtlCol="0" anchor="ctr"/>
          <a:lstStyle/>
          <a:p>
            <a:pPr marL="0" indent="0">
              <a:buNone/>
            </a:pPr>
            <a:r>
              <a:rPr lang="en-US" sz="1100" b="1" kern="0" spc="150" dirty="0">
                <a:solidFill>
                  <a:srgbClr val="1B98E0"/>
                </a:solidFill>
                <a:latin typeface="Calibri" pitchFamily="34" charset="0"/>
                <a:ea typeface="Calibri" pitchFamily="34" charset="-122"/>
                <a:cs typeface="Calibri" pitchFamily="34" charset="-120"/>
              </a:rPr>
              <a:t>SIMPLE ARCHITECTURE FLOW</a:t>
            </a:r>
            <a:endParaRPr lang="en-US" sz="1100" dirty="0"/>
          </a:p>
        </p:txBody>
      </p:sp>
      <p:sp>
        <p:nvSpPr>
          <p:cNvPr id="41" name="Shape 31"/>
          <p:cNvSpPr/>
          <p:nvPr/>
        </p:nvSpPr>
        <p:spPr>
          <a:xfrm>
            <a:off x="870052" y="4434840"/>
            <a:ext cx="1783080" cy="1371600"/>
          </a:xfrm>
          <a:prstGeom prst="roundRect">
            <a:avLst>
              <a:gd name="adj" fmla="val 6667"/>
            </a:avLst>
          </a:prstGeom>
          <a:solidFill>
            <a:srgbClr val="0F2A5C"/>
          </a:solidFill>
          <a:ln/>
          <a:effectLst>
            <a:outerShdw blurRad="63500" dist="25400" dir="5400000" algn="bl" rotWithShape="0">
              <a:srgbClr val="0A1128">
                <a:alpha val="25000"/>
              </a:srgbClr>
            </a:outerShdw>
          </a:effectLst>
        </p:spPr>
      </p:sp>
      <p:pic>
        <p:nvPicPr>
          <p:cNvPr id="42" name="Image 8" descr="/home/claude/phishguard/icons/user_icon.png"/>
          <p:cNvPicPr>
            <a:picLocks noChangeAspect="1"/>
          </p:cNvPicPr>
          <p:nvPr/>
        </p:nvPicPr>
        <p:blipFill>
          <a:blip r:embed="rId11"/>
          <a:stretch>
            <a:fillRect/>
          </a:stretch>
        </p:blipFill>
        <p:spPr>
          <a:xfrm>
            <a:off x="1505560" y="4636008"/>
            <a:ext cx="512064" cy="512064"/>
          </a:xfrm>
          <a:prstGeom prst="rect">
            <a:avLst/>
          </a:prstGeom>
        </p:spPr>
      </p:pic>
      <p:sp>
        <p:nvSpPr>
          <p:cNvPr id="43" name="Text 32"/>
          <p:cNvSpPr/>
          <p:nvPr/>
        </p:nvSpPr>
        <p:spPr>
          <a:xfrm>
            <a:off x="870052" y="5212080"/>
            <a:ext cx="1783080" cy="54864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44" name="Shape 33"/>
          <p:cNvSpPr/>
          <p:nvPr/>
        </p:nvSpPr>
        <p:spPr>
          <a:xfrm rot="5400000">
            <a:off x="2735428" y="5001768"/>
            <a:ext cx="219456" cy="237744"/>
          </a:xfrm>
          <a:prstGeom prst="triangle">
            <a:avLst/>
          </a:prstGeom>
          <a:solidFill>
            <a:srgbClr val="00F5D4"/>
          </a:solidFill>
          <a:ln/>
        </p:spPr>
      </p:sp>
      <p:sp>
        <p:nvSpPr>
          <p:cNvPr id="45" name="Shape 34"/>
          <p:cNvSpPr/>
          <p:nvPr/>
        </p:nvSpPr>
        <p:spPr>
          <a:xfrm>
            <a:off x="3037180" y="4434840"/>
            <a:ext cx="1783080" cy="1371600"/>
          </a:xfrm>
          <a:prstGeom prst="roundRect">
            <a:avLst>
              <a:gd name="adj" fmla="val 6667"/>
            </a:avLst>
          </a:prstGeom>
          <a:solidFill>
            <a:srgbClr val="1B98E0"/>
          </a:solidFill>
          <a:ln/>
          <a:effectLst>
            <a:outerShdw blurRad="63500" dist="25400" dir="5400000" algn="bl" rotWithShape="0">
              <a:srgbClr val="0A1128">
                <a:alpha val="25000"/>
              </a:srgbClr>
            </a:outerShdw>
          </a:effectLst>
        </p:spPr>
      </p:sp>
      <p:pic>
        <p:nvPicPr>
          <p:cNvPr id="46" name="Image 9" descr="/home/claude/phishguard/icons/react_icon.png"/>
          <p:cNvPicPr>
            <a:picLocks noChangeAspect="1"/>
          </p:cNvPicPr>
          <p:nvPr/>
        </p:nvPicPr>
        <p:blipFill>
          <a:blip r:embed="rId4"/>
          <a:stretch>
            <a:fillRect/>
          </a:stretch>
        </p:blipFill>
        <p:spPr>
          <a:xfrm>
            <a:off x="3672688" y="4636008"/>
            <a:ext cx="512064" cy="512064"/>
          </a:xfrm>
          <a:prstGeom prst="rect">
            <a:avLst/>
          </a:prstGeom>
        </p:spPr>
      </p:pic>
      <p:sp>
        <p:nvSpPr>
          <p:cNvPr id="47" name="Text 35"/>
          <p:cNvSpPr/>
          <p:nvPr/>
        </p:nvSpPr>
        <p:spPr>
          <a:xfrm>
            <a:off x="3037180" y="5212080"/>
            <a:ext cx="1783080" cy="54864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React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48" name="Shape 36"/>
          <p:cNvSpPr/>
          <p:nvPr/>
        </p:nvSpPr>
        <p:spPr>
          <a:xfrm rot="5400000">
            <a:off x="4902556" y="5001768"/>
            <a:ext cx="219456" cy="237744"/>
          </a:xfrm>
          <a:prstGeom prst="triangle">
            <a:avLst/>
          </a:prstGeom>
          <a:solidFill>
            <a:srgbClr val="00F5D4"/>
          </a:solidFill>
          <a:ln/>
        </p:spPr>
      </p:sp>
      <p:sp>
        <p:nvSpPr>
          <p:cNvPr id="49" name="Shape 37"/>
          <p:cNvSpPr/>
          <p:nvPr/>
        </p:nvSpPr>
        <p:spPr>
          <a:xfrm>
            <a:off x="5204308" y="4434840"/>
            <a:ext cx="1783080" cy="1371600"/>
          </a:xfrm>
          <a:prstGeom prst="roundRect">
            <a:avLst>
              <a:gd name="adj" fmla="val 6667"/>
            </a:avLst>
          </a:prstGeom>
          <a:solidFill>
            <a:srgbClr val="1D3A6E"/>
          </a:solidFill>
          <a:ln/>
          <a:effectLst>
            <a:outerShdw blurRad="63500" dist="25400" dir="5400000" algn="bl" rotWithShape="0">
              <a:srgbClr val="0A1128">
                <a:alpha val="25000"/>
              </a:srgbClr>
            </a:outerShdw>
          </a:effectLst>
        </p:spPr>
      </p:sp>
      <p:pic>
        <p:nvPicPr>
          <p:cNvPr id="50" name="Image 10" descr="/home/claude/phishguard/icons/server_icon.png"/>
          <p:cNvPicPr>
            <a:picLocks noChangeAspect="1"/>
          </p:cNvPicPr>
          <p:nvPr/>
        </p:nvPicPr>
        <p:blipFill>
          <a:blip r:embed="rId12"/>
          <a:stretch>
            <a:fillRect/>
          </a:stretch>
        </p:blipFill>
        <p:spPr>
          <a:xfrm>
            <a:off x="5839816" y="4636008"/>
            <a:ext cx="512064" cy="512064"/>
          </a:xfrm>
          <a:prstGeom prst="rect">
            <a:avLst/>
          </a:prstGeom>
        </p:spPr>
      </p:pic>
      <p:sp>
        <p:nvSpPr>
          <p:cNvPr id="51" name="Text 38"/>
          <p:cNvSpPr/>
          <p:nvPr/>
        </p:nvSpPr>
        <p:spPr>
          <a:xfrm>
            <a:off x="5204308" y="5212080"/>
            <a:ext cx="1783080" cy="54864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FastAPI</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52" name="Shape 39"/>
          <p:cNvSpPr/>
          <p:nvPr/>
        </p:nvSpPr>
        <p:spPr>
          <a:xfrm rot="5400000">
            <a:off x="7069684" y="5001768"/>
            <a:ext cx="219456" cy="237744"/>
          </a:xfrm>
          <a:prstGeom prst="triangle">
            <a:avLst/>
          </a:prstGeom>
          <a:solidFill>
            <a:srgbClr val="00F5D4"/>
          </a:solidFill>
          <a:ln/>
        </p:spPr>
      </p:sp>
      <p:sp>
        <p:nvSpPr>
          <p:cNvPr id="53" name="Shape 40"/>
          <p:cNvSpPr/>
          <p:nvPr/>
        </p:nvSpPr>
        <p:spPr>
          <a:xfrm>
            <a:off x="7371436" y="4434840"/>
            <a:ext cx="1783080" cy="1371600"/>
          </a:xfrm>
          <a:prstGeom prst="roundRect">
            <a:avLst>
              <a:gd name="adj" fmla="val 6667"/>
            </a:avLst>
          </a:prstGeom>
          <a:solidFill>
            <a:srgbClr val="1B98E0"/>
          </a:solidFill>
          <a:ln/>
          <a:effectLst>
            <a:outerShdw blurRad="63500" dist="25400" dir="5400000" algn="bl" rotWithShape="0">
              <a:srgbClr val="0A1128">
                <a:alpha val="25000"/>
              </a:srgbClr>
            </a:outerShdw>
          </a:effectLst>
        </p:spPr>
      </p:sp>
      <p:pic>
        <p:nvPicPr>
          <p:cNvPr id="54" name="Image 11" descr="/home/claude/phishguard/icons/search.png"/>
          <p:cNvPicPr>
            <a:picLocks noChangeAspect="1"/>
          </p:cNvPicPr>
          <p:nvPr/>
        </p:nvPicPr>
        <p:blipFill>
          <a:blip r:embed="rId13"/>
          <a:stretch>
            <a:fillRect/>
          </a:stretch>
        </p:blipFill>
        <p:spPr>
          <a:xfrm>
            <a:off x="8006944" y="4636008"/>
            <a:ext cx="512064" cy="512064"/>
          </a:xfrm>
          <a:prstGeom prst="rect">
            <a:avLst/>
          </a:prstGeom>
        </p:spPr>
      </p:pic>
      <p:sp>
        <p:nvSpPr>
          <p:cNvPr id="55" name="Text 41"/>
          <p:cNvSpPr/>
          <p:nvPr/>
        </p:nvSpPr>
        <p:spPr>
          <a:xfrm>
            <a:off x="7371436" y="5212080"/>
            <a:ext cx="1783080" cy="54864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URL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Analyzer</a:t>
            </a:r>
            <a:endParaRPr lang="en-US" sz="1100" dirty="0"/>
          </a:p>
        </p:txBody>
      </p:sp>
      <p:sp>
        <p:nvSpPr>
          <p:cNvPr id="56" name="Shape 42"/>
          <p:cNvSpPr/>
          <p:nvPr/>
        </p:nvSpPr>
        <p:spPr>
          <a:xfrm rot="5400000">
            <a:off x="9236812" y="5001768"/>
            <a:ext cx="219456" cy="237744"/>
          </a:xfrm>
          <a:prstGeom prst="triangle">
            <a:avLst/>
          </a:prstGeom>
          <a:solidFill>
            <a:srgbClr val="00F5D4"/>
          </a:solidFill>
          <a:ln/>
        </p:spPr>
      </p:sp>
      <p:sp>
        <p:nvSpPr>
          <p:cNvPr id="57" name="Shape 43"/>
          <p:cNvSpPr/>
          <p:nvPr/>
        </p:nvSpPr>
        <p:spPr>
          <a:xfrm>
            <a:off x="9538564" y="4434840"/>
            <a:ext cx="1783080" cy="1371600"/>
          </a:xfrm>
          <a:prstGeom prst="roundRect">
            <a:avLst>
              <a:gd name="adj" fmla="val 6667"/>
            </a:avLst>
          </a:prstGeom>
          <a:solidFill>
            <a:srgbClr val="1D3A6E"/>
          </a:solidFill>
          <a:ln/>
          <a:effectLst>
            <a:outerShdw blurRad="63500" dist="25400" dir="5400000" algn="bl" rotWithShape="0">
              <a:srgbClr val="0A1128">
                <a:alpha val="25000"/>
              </a:srgbClr>
            </a:outerShdw>
          </a:effectLst>
        </p:spPr>
      </p:sp>
      <p:pic>
        <p:nvPicPr>
          <p:cNvPr id="58" name="Image 12" descr="/home/claude/phishguard/icons/database_icon.png"/>
          <p:cNvPicPr>
            <a:picLocks noChangeAspect="1"/>
          </p:cNvPicPr>
          <p:nvPr/>
        </p:nvPicPr>
        <p:blipFill>
          <a:blip r:embed="rId14"/>
          <a:stretch>
            <a:fillRect/>
          </a:stretch>
        </p:blipFill>
        <p:spPr>
          <a:xfrm>
            <a:off x="10174072" y="4636008"/>
            <a:ext cx="512064" cy="512064"/>
          </a:xfrm>
          <a:prstGeom prst="rect">
            <a:avLst/>
          </a:prstGeom>
        </p:spPr>
      </p:pic>
      <p:sp>
        <p:nvSpPr>
          <p:cNvPr id="59" name="Text 44"/>
          <p:cNvSpPr/>
          <p:nvPr/>
        </p:nvSpPr>
        <p:spPr>
          <a:xfrm>
            <a:off x="9538564" y="5212080"/>
            <a:ext cx="1783080" cy="54864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SQLite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Database</a:t>
            </a:r>
            <a:endParaRPr lang="en-US" sz="1100" dirty="0"/>
          </a:p>
        </p:txBody>
      </p:sp>
      <p:sp>
        <p:nvSpPr>
          <p:cNvPr id="60" name="Text 45"/>
          <p:cNvSpPr/>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1607A"/>
                </a:solidFill>
                <a:latin typeface="Calibri" pitchFamily="34" charset="0"/>
                <a:ea typeface="Calibri" pitchFamily="34" charset="-122"/>
                <a:cs typeface="Calibri" pitchFamily="34" charset="-120"/>
              </a:rPr>
              <a:t>PhishGuard  |  Phishing URL Detection System</a:t>
            </a:r>
            <a:endParaRPr lang="en-US" sz="900" dirty="0"/>
          </a:p>
        </p:txBody>
      </p:sp>
      <p:sp>
        <p:nvSpPr>
          <p:cNvPr id="61" name="Text 46"/>
          <p:cNvSpPr/>
          <p:nvPr/>
        </p:nvSpPr>
        <p:spPr>
          <a:xfrm>
            <a:off x="11430000" y="6547104"/>
            <a:ext cx="365760" cy="256032"/>
          </a:xfrm>
          <a:prstGeom prst="rect">
            <a:avLst/>
          </a:prstGeom>
          <a:noFill/>
          <a:ln/>
        </p:spPr>
        <p:txBody>
          <a:bodyPr wrap="square" lIns="0" tIns="0" rIns="0" bIns="0" rtlCol="0" anchor="ctr"/>
          <a:lstStyle/>
          <a:p>
            <a:pPr marL="0" indent="0" algn="r">
              <a:buNone/>
            </a:pPr>
            <a:r>
              <a:rPr lang="en-US" sz="900" dirty="0">
                <a:solidFill>
                  <a:srgbClr val="5160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lIns="0" tIns="0" rIns="0" bIns="0" rtlCol="0" anchor="ctr"/>
          <a:lstStyle/>
          <a:p>
            <a:pPr marL="0" indent="0">
              <a:buNone/>
            </a:pPr>
            <a:r>
              <a:rPr lang="en-US" sz="1100" b="1" kern="0" spc="200" dirty="0">
                <a:solidFill>
                  <a:srgbClr val="1B98E0"/>
                </a:solidFill>
                <a:latin typeface="Calibri" pitchFamily="34" charset="0"/>
                <a:ea typeface="Calibri" pitchFamily="34" charset="-122"/>
                <a:cs typeface="Calibri" pitchFamily="34" charset="-120"/>
              </a:rPr>
              <a:t>STEP-BY-STEP SCANNING FLOW</a:t>
            </a:r>
            <a:endParaRPr lang="en-US" sz="1100" dirty="0"/>
          </a:p>
        </p:txBody>
      </p:sp>
      <p:sp>
        <p:nvSpPr>
          <p:cNvPr id="3" name="Text 1"/>
          <p:cNvSpPr/>
          <p:nvPr/>
        </p:nvSpPr>
        <p:spPr>
          <a:xfrm>
            <a:off x="548640" y="566928"/>
            <a:ext cx="10515600" cy="685800"/>
          </a:xfrm>
          <a:prstGeom prst="rect">
            <a:avLst/>
          </a:prstGeom>
          <a:noFill/>
          <a:ln/>
        </p:spPr>
        <p:txBody>
          <a:bodyPr wrap="square" lIns="0" tIns="0" rIns="0" bIns="0" rtlCol="0" anchor="ctr"/>
          <a:lstStyle/>
          <a:p>
            <a:pPr marL="0" indent="0">
              <a:buNone/>
            </a:pPr>
            <a:r>
              <a:rPr lang="en-US" sz="3200" b="1" dirty="0">
                <a:solidFill>
                  <a:srgbClr val="0A1128"/>
                </a:solidFill>
                <a:latin typeface="Century Schoolbook" pitchFamily="34" charset="0"/>
                <a:ea typeface="Century Schoolbook" pitchFamily="34" charset="-122"/>
                <a:cs typeface="Century Schoolbook" pitchFamily="34" charset="-120"/>
              </a:rPr>
              <a:t>Working Process</a:t>
            </a:r>
            <a:endParaRPr lang="en-US" sz="3200" dirty="0"/>
          </a:p>
        </p:txBody>
      </p:sp>
      <p:sp>
        <p:nvSpPr>
          <p:cNvPr id="4" name="Shape 2"/>
          <p:cNvSpPr/>
          <p:nvPr/>
        </p:nvSpPr>
        <p:spPr>
          <a:xfrm>
            <a:off x="11292840" y="365760"/>
            <a:ext cx="384048" cy="384048"/>
          </a:xfrm>
          <a:prstGeom prst="ellipse">
            <a:avLst/>
          </a:prstGeom>
          <a:solidFill>
            <a:srgbClr val="0A1128"/>
          </a:solidFill>
          <a:ln/>
        </p:spPr>
      </p:sp>
      <p:pic>
        <p:nvPicPr>
          <p:cNvPr id="5" name="Image 0" descr="/home/claude/phishguard/icons/lock.png"/>
          <p:cNvPicPr>
            <a:picLocks noChangeAspect="1"/>
          </p:cNvPicPr>
          <p:nvPr/>
        </p:nvPicPr>
        <p:blipFill>
          <a:blip r:embed="rId3"/>
          <a:stretch>
            <a:fillRect/>
          </a:stretch>
        </p:blipFill>
        <p:spPr>
          <a:xfrm>
            <a:off x="11393424" y="466344"/>
            <a:ext cx="182880" cy="182880"/>
          </a:xfrm>
          <a:prstGeom prst="rect">
            <a:avLst/>
          </a:prstGeom>
        </p:spPr>
      </p:pic>
      <p:sp>
        <p:nvSpPr>
          <p:cNvPr id="6" name="Shape 3"/>
          <p:cNvSpPr/>
          <p:nvPr/>
        </p:nvSpPr>
        <p:spPr>
          <a:xfrm>
            <a:off x="1042416" y="2688336"/>
            <a:ext cx="10168128" cy="0"/>
          </a:xfrm>
          <a:prstGeom prst="line">
            <a:avLst/>
          </a:prstGeom>
          <a:noFill/>
          <a:ln w="25400">
            <a:solidFill>
              <a:srgbClr val="C7D6EA"/>
            </a:solidFill>
            <a:prstDash val="solid"/>
          </a:ln>
        </p:spPr>
      </p:sp>
      <p:sp>
        <p:nvSpPr>
          <p:cNvPr id="7" name="Shape 4"/>
          <p:cNvSpPr/>
          <p:nvPr/>
        </p:nvSpPr>
        <p:spPr>
          <a:xfrm>
            <a:off x="640080" y="2286000"/>
            <a:ext cx="804672" cy="804672"/>
          </a:xfrm>
          <a:prstGeom prst="ellipse">
            <a:avLst/>
          </a:prstGeom>
          <a:solidFill>
            <a:srgbClr val="0F2A5C"/>
          </a:solidFill>
          <a:ln/>
        </p:spPr>
      </p:sp>
      <p:pic>
        <p:nvPicPr>
          <p:cNvPr id="8" name="Image 1" descr="/home/claude/phishguard/icons/keyboard.png"/>
          <p:cNvPicPr>
            <a:picLocks noChangeAspect="1"/>
          </p:cNvPicPr>
          <p:nvPr/>
        </p:nvPicPr>
        <p:blipFill>
          <a:blip r:embed="rId4"/>
          <a:stretch>
            <a:fillRect/>
          </a:stretch>
        </p:blipFill>
        <p:spPr>
          <a:xfrm>
            <a:off x="822960" y="2468880"/>
            <a:ext cx="438912" cy="438912"/>
          </a:xfrm>
          <a:prstGeom prst="rect">
            <a:avLst/>
          </a:prstGeom>
        </p:spPr>
      </p:pic>
      <p:sp>
        <p:nvSpPr>
          <p:cNvPr id="9" name="Shape 5"/>
          <p:cNvSpPr/>
          <p:nvPr/>
        </p:nvSpPr>
        <p:spPr>
          <a:xfrm>
            <a:off x="640080" y="2286000"/>
            <a:ext cx="804672" cy="804672"/>
          </a:xfrm>
          <a:prstGeom prst="ellipse">
            <a:avLst/>
          </a:prstGeom>
          <a:ln w="25400">
            <a:solidFill>
              <a:srgbClr val="00F5D4"/>
            </a:solidFill>
            <a:prstDash val="solid"/>
          </a:ln>
        </p:spPr>
      </p:sp>
      <p:sp>
        <p:nvSpPr>
          <p:cNvPr id="10" name="Shape 6"/>
          <p:cNvSpPr/>
          <p:nvPr/>
        </p:nvSpPr>
        <p:spPr>
          <a:xfrm>
            <a:off x="1207008" y="2139696"/>
            <a:ext cx="310896" cy="310896"/>
          </a:xfrm>
          <a:prstGeom prst="ellipse">
            <a:avLst/>
          </a:prstGeom>
          <a:solidFill>
            <a:srgbClr val="1B98E0"/>
          </a:solidFill>
          <a:ln w="19050">
            <a:solidFill>
              <a:srgbClr val="F4F8FC"/>
            </a:solidFill>
            <a:prstDash val="solid"/>
          </a:ln>
        </p:spPr>
      </p:sp>
      <p:sp>
        <p:nvSpPr>
          <p:cNvPr id="11" name="Text 7"/>
          <p:cNvSpPr/>
          <p:nvPr/>
        </p:nvSpPr>
        <p:spPr>
          <a:xfrm>
            <a:off x="1207008"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8"/>
          <p:cNvSpPr/>
          <p:nvPr/>
        </p:nvSpPr>
        <p:spPr>
          <a:xfrm>
            <a:off x="73152"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User Enters URL</a:t>
            </a:r>
            <a:endParaRPr lang="en-US" sz="1150" dirty="0"/>
          </a:p>
        </p:txBody>
      </p:sp>
      <p:sp>
        <p:nvSpPr>
          <p:cNvPr id="13" name="Text 9"/>
          <p:cNvSpPr/>
          <p:nvPr/>
        </p:nvSpPr>
        <p:spPr>
          <a:xfrm>
            <a:off x="73152"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User types or pastes a website link into PhishGuard.</a:t>
            </a:r>
            <a:endParaRPr lang="en-US" sz="900" dirty="0"/>
          </a:p>
        </p:txBody>
      </p:sp>
      <p:sp>
        <p:nvSpPr>
          <p:cNvPr id="14" name="Shape 10"/>
          <p:cNvSpPr/>
          <p:nvPr/>
        </p:nvSpPr>
        <p:spPr>
          <a:xfrm>
            <a:off x="2334768" y="2286000"/>
            <a:ext cx="804672" cy="804672"/>
          </a:xfrm>
          <a:prstGeom prst="ellipse">
            <a:avLst/>
          </a:prstGeom>
          <a:solidFill>
            <a:srgbClr val="0F2A5C"/>
          </a:solidFill>
          <a:ln/>
        </p:spPr>
      </p:sp>
      <p:pic>
        <p:nvPicPr>
          <p:cNvPr id="15" name="Image 2" descr="/home/claude/phishguard/icons/mouse.png"/>
          <p:cNvPicPr>
            <a:picLocks noChangeAspect="1"/>
          </p:cNvPicPr>
          <p:nvPr/>
        </p:nvPicPr>
        <p:blipFill>
          <a:blip r:embed="rId5"/>
          <a:stretch>
            <a:fillRect/>
          </a:stretch>
        </p:blipFill>
        <p:spPr>
          <a:xfrm>
            <a:off x="2517648" y="2468880"/>
            <a:ext cx="438912" cy="438912"/>
          </a:xfrm>
          <a:prstGeom prst="rect">
            <a:avLst/>
          </a:prstGeom>
        </p:spPr>
      </p:pic>
      <p:sp>
        <p:nvSpPr>
          <p:cNvPr id="16" name="Shape 11"/>
          <p:cNvSpPr/>
          <p:nvPr/>
        </p:nvSpPr>
        <p:spPr>
          <a:xfrm>
            <a:off x="2334768" y="2286000"/>
            <a:ext cx="804672" cy="804672"/>
          </a:xfrm>
          <a:prstGeom prst="ellipse">
            <a:avLst/>
          </a:prstGeom>
          <a:ln w="25400">
            <a:solidFill>
              <a:srgbClr val="00F5D4"/>
            </a:solidFill>
            <a:prstDash val="solid"/>
          </a:ln>
        </p:spPr>
      </p:sp>
      <p:sp>
        <p:nvSpPr>
          <p:cNvPr id="17" name="Shape 12"/>
          <p:cNvSpPr/>
          <p:nvPr/>
        </p:nvSpPr>
        <p:spPr>
          <a:xfrm>
            <a:off x="2901696" y="2139696"/>
            <a:ext cx="310896" cy="310896"/>
          </a:xfrm>
          <a:prstGeom prst="ellipse">
            <a:avLst/>
          </a:prstGeom>
          <a:solidFill>
            <a:srgbClr val="1B98E0"/>
          </a:solidFill>
          <a:ln w="19050">
            <a:solidFill>
              <a:srgbClr val="F4F8FC"/>
            </a:solidFill>
            <a:prstDash val="solid"/>
          </a:ln>
        </p:spPr>
      </p:sp>
      <p:sp>
        <p:nvSpPr>
          <p:cNvPr id="18" name="Text 13"/>
          <p:cNvSpPr/>
          <p:nvPr/>
        </p:nvSpPr>
        <p:spPr>
          <a:xfrm>
            <a:off x="2901696"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4"/>
          <p:cNvSpPr/>
          <p:nvPr/>
        </p:nvSpPr>
        <p:spPr>
          <a:xfrm>
            <a:off x="1767840"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Click Scan</a:t>
            </a:r>
            <a:endParaRPr lang="en-US" sz="1150" dirty="0"/>
          </a:p>
        </p:txBody>
      </p:sp>
      <p:sp>
        <p:nvSpPr>
          <p:cNvPr id="20" name="Text 15"/>
          <p:cNvSpPr/>
          <p:nvPr/>
        </p:nvSpPr>
        <p:spPr>
          <a:xfrm>
            <a:off x="1767840"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User clicks the Scan button to start the check.</a:t>
            </a:r>
            <a:endParaRPr lang="en-US" sz="900" dirty="0"/>
          </a:p>
        </p:txBody>
      </p:sp>
      <p:sp>
        <p:nvSpPr>
          <p:cNvPr id="21" name="Shape 16"/>
          <p:cNvSpPr/>
          <p:nvPr/>
        </p:nvSpPr>
        <p:spPr>
          <a:xfrm>
            <a:off x="4029456" y="2286000"/>
            <a:ext cx="804672" cy="804672"/>
          </a:xfrm>
          <a:prstGeom prst="ellipse">
            <a:avLst/>
          </a:prstGeom>
          <a:solidFill>
            <a:srgbClr val="0F2A5C"/>
          </a:solidFill>
          <a:ln/>
        </p:spPr>
      </p:sp>
      <p:pic>
        <p:nvPicPr>
          <p:cNvPr id="22" name="Image 3" descr="/home/claude/phishguard/icons/server_icon.png"/>
          <p:cNvPicPr>
            <a:picLocks noChangeAspect="1"/>
          </p:cNvPicPr>
          <p:nvPr/>
        </p:nvPicPr>
        <p:blipFill>
          <a:blip r:embed="rId6"/>
          <a:stretch>
            <a:fillRect/>
          </a:stretch>
        </p:blipFill>
        <p:spPr>
          <a:xfrm>
            <a:off x="4212336" y="2468880"/>
            <a:ext cx="438912" cy="438912"/>
          </a:xfrm>
          <a:prstGeom prst="rect">
            <a:avLst/>
          </a:prstGeom>
        </p:spPr>
      </p:pic>
      <p:sp>
        <p:nvSpPr>
          <p:cNvPr id="23" name="Shape 17"/>
          <p:cNvSpPr/>
          <p:nvPr/>
        </p:nvSpPr>
        <p:spPr>
          <a:xfrm>
            <a:off x="4029456" y="2286000"/>
            <a:ext cx="804672" cy="804672"/>
          </a:xfrm>
          <a:prstGeom prst="ellipse">
            <a:avLst/>
          </a:prstGeom>
          <a:ln w="25400">
            <a:solidFill>
              <a:srgbClr val="00F5D4"/>
            </a:solidFill>
            <a:prstDash val="solid"/>
          </a:ln>
        </p:spPr>
      </p:sp>
      <p:sp>
        <p:nvSpPr>
          <p:cNvPr id="24" name="Shape 18"/>
          <p:cNvSpPr/>
          <p:nvPr/>
        </p:nvSpPr>
        <p:spPr>
          <a:xfrm>
            <a:off x="4596384" y="2139696"/>
            <a:ext cx="310896" cy="310896"/>
          </a:xfrm>
          <a:prstGeom prst="ellipse">
            <a:avLst/>
          </a:prstGeom>
          <a:solidFill>
            <a:srgbClr val="1B98E0"/>
          </a:solidFill>
          <a:ln w="19050">
            <a:solidFill>
              <a:srgbClr val="F4F8FC"/>
            </a:solidFill>
            <a:prstDash val="solid"/>
          </a:ln>
        </p:spPr>
      </p:sp>
      <p:sp>
        <p:nvSpPr>
          <p:cNvPr id="25" name="Text 19"/>
          <p:cNvSpPr/>
          <p:nvPr/>
        </p:nvSpPr>
        <p:spPr>
          <a:xfrm>
            <a:off x="4596384"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0"/>
          <p:cNvSpPr/>
          <p:nvPr/>
        </p:nvSpPr>
        <p:spPr>
          <a:xfrm>
            <a:off x="3462528"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Backend Analyzes URL</a:t>
            </a:r>
            <a:endParaRPr lang="en-US" sz="1150" dirty="0"/>
          </a:p>
        </p:txBody>
      </p:sp>
      <p:sp>
        <p:nvSpPr>
          <p:cNvPr id="27" name="Text 21"/>
          <p:cNvSpPr/>
          <p:nvPr/>
        </p:nvSpPr>
        <p:spPr>
          <a:xfrm>
            <a:off x="3462528"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FastAPI backend receives and processes the link.</a:t>
            </a:r>
            <a:endParaRPr lang="en-US" sz="900" dirty="0"/>
          </a:p>
        </p:txBody>
      </p:sp>
      <p:sp>
        <p:nvSpPr>
          <p:cNvPr id="28" name="Shape 22"/>
          <p:cNvSpPr/>
          <p:nvPr/>
        </p:nvSpPr>
        <p:spPr>
          <a:xfrm>
            <a:off x="5724144" y="2286000"/>
            <a:ext cx="804672" cy="804672"/>
          </a:xfrm>
          <a:prstGeom prst="ellipse">
            <a:avLst/>
          </a:prstGeom>
          <a:solidFill>
            <a:srgbClr val="0F2A5C"/>
          </a:solidFill>
          <a:ln/>
        </p:spPr>
      </p:sp>
      <p:pic>
        <p:nvPicPr>
          <p:cNvPr id="29" name="Image 4" descr="/home/claude/phishguard/icons/scan.png"/>
          <p:cNvPicPr>
            <a:picLocks noChangeAspect="1"/>
          </p:cNvPicPr>
          <p:nvPr/>
        </p:nvPicPr>
        <p:blipFill>
          <a:blip r:embed="rId7"/>
          <a:stretch>
            <a:fillRect/>
          </a:stretch>
        </p:blipFill>
        <p:spPr>
          <a:xfrm>
            <a:off x="5907024" y="2468880"/>
            <a:ext cx="438912" cy="438912"/>
          </a:xfrm>
          <a:prstGeom prst="rect">
            <a:avLst/>
          </a:prstGeom>
        </p:spPr>
      </p:pic>
      <p:sp>
        <p:nvSpPr>
          <p:cNvPr id="30" name="Shape 23"/>
          <p:cNvSpPr/>
          <p:nvPr/>
        </p:nvSpPr>
        <p:spPr>
          <a:xfrm>
            <a:off x="5724144" y="2286000"/>
            <a:ext cx="804672" cy="804672"/>
          </a:xfrm>
          <a:prstGeom prst="ellipse">
            <a:avLst/>
          </a:prstGeom>
          <a:ln w="25400">
            <a:solidFill>
              <a:srgbClr val="00F5D4"/>
            </a:solidFill>
            <a:prstDash val="solid"/>
          </a:ln>
        </p:spPr>
      </p:sp>
      <p:sp>
        <p:nvSpPr>
          <p:cNvPr id="31" name="Shape 24"/>
          <p:cNvSpPr/>
          <p:nvPr/>
        </p:nvSpPr>
        <p:spPr>
          <a:xfrm>
            <a:off x="6291072" y="2139696"/>
            <a:ext cx="310896" cy="310896"/>
          </a:xfrm>
          <a:prstGeom prst="ellipse">
            <a:avLst/>
          </a:prstGeom>
          <a:solidFill>
            <a:srgbClr val="1B98E0"/>
          </a:solidFill>
          <a:ln w="19050">
            <a:solidFill>
              <a:srgbClr val="F4F8FC"/>
            </a:solidFill>
            <a:prstDash val="solid"/>
          </a:ln>
        </p:spPr>
      </p:sp>
      <p:sp>
        <p:nvSpPr>
          <p:cNvPr id="32" name="Text 25"/>
          <p:cNvSpPr/>
          <p:nvPr/>
        </p:nvSpPr>
        <p:spPr>
          <a:xfrm>
            <a:off x="6291072"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26"/>
          <p:cNvSpPr/>
          <p:nvPr/>
        </p:nvSpPr>
        <p:spPr>
          <a:xfrm>
            <a:off x="5157216"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Checks Phishing Indicators</a:t>
            </a:r>
            <a:endParaRPr lang="en-US" sz="1150" dirty="0"/>
          </a:p>
        </p:txBody>
      </p:sp>
      <p:sp>
        <p:nvSpPr>
          <p:cNvPr id="34" name="Text 27"/>
          <p:cNvSpPr/>
          <p:nvPr/>
        </p:nvSpPr>
        <p:spPr>
          <a:xfrm>
            <a:off x="5157216"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System looks for signs used by fake websites.</a:t>
            </a:r>
            <a:endParaRPr lang="en-US" sz="900" dirty="0"/>
          </a:p>
        </p:txBody>
      </p:sp>
      <p:sp>
        <p:nvSpPr>
          <p:cNvPr id="35" name="Shape 28"/>
          <p:cNvSpPr/>
          <p:nvPr/>
        </p:nvSpPr>
        <p:spPr>
          <a:xfrm>
            <a:off x="7418832" y="2286000"/>
            <a:ext cx="804672" cy="804672"/>
          </a:xfrm>
          <a:prstGeom prst="ellipse">
            <a:avLst/>
          </a:prstGeom>
          <a:solidFill>
            <a:srgbClr val="0F2A5C"/>
          </a:solidFill>
          <a:ln/>
        </p:spPr>
      </p:sp>
      <p:pic>
        <p:nvPicPr>
          <p:cNvPr id="36" name="Image 5" descr="/home/claude/phishguard/icons/calculator.png"/>
          <p:cNvPicPr>
            <a:picLocks noChangeAspect="1"/>
          </p:cNvPicPr>
          <p:nvPr/>
        </p:nvPicPr>
        <p:blipFill>
          <a:blip r:embed="rId8"/>
          <a:stretch>
            <a:fillRect/>
          </a:stretch>
        </p:blipFill>
        <p:spPr>
          <a:xfrm>
            <a:off x="7601712" y="2468880"/>
            <a:ext cx="438912" cy="438912"/>
          </a:xfrm>
          <a:prstGeom prst="rect">
            <a:avLst/>
          </a:prstGeom>
        </p:spPr>
      </p:pic>
      <p:sp>
        <p:nvSpPr>
          <p:cNvPr id="37" name="Shape 29"/>
          <p:cNvSpPr/>
          <p:nvPr/>
        </p:nvSpPr>
        <p:spPr>
          <a:xfrm>
            <a:off x="7418832" y="2286000"/>
            <a:ext cx="804672" cy="804672"/>
          </a:xfrm>
          <a:prstGeom prst="ellipse">
            <a:avLst/>
          </a:prstGeom>
          <a:ln w="25400">
            <a:solidFill>
              <a:srgbClr val="00F5D4"/>
            </a:solidFill>
            <a:prstDash val="solid"/>
          </a:ln>
        </p:spPr>
      </p:sp>
      <p:sp>
        <p:nvSpPr>
          <p:cNvPr id="38" name="Shape 30"/>
          <p:cNvSpPr/>
          <p:nvPr/>
        </p:nvSpPr>
        <p:spPr>
          <a:xfrm>
            <a:off x="7985760" y="2139696"/>
            <a:ext cx="310896" cy="310896"/>
          </a:xfrm>
          <a:prstGeom prst="ellipse">
            <a:avLst/>
          </a:prstGeom>
          <a:solidFill>
            <a:srgbClr val="1B98E0"/>
          </a:solidFill>
          <a:ln w="19050">
            <a:solidFill>
              <a:srgbClr val="F4F8FC"/>
            </a:solidFill>
            <a:prstDash val="solid"/>
          </a:ln>
        </p:spPr>
      </p:sp>
      <p:sp>
        <p:nvSpPr>
          <p:cNvPr id="39" name="Text 31"/>
          <p:cNvSpPr/>
          <p:nvPr/>
        </p:nvSpPr>
        <p:spPr>
          <a:xfrm>
            <a:off x="7985760"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2"/>
          <p:cNvSpPr/>
          <p:nvPr/>
        </p:nvSpPr>
        <p:spPr>
          <a:xfrm>
            <a:off x="6851904"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Calculates Risk Score</a:t>
            </a:r>
            <a:endParaRPr lang="en-US" sz="1150" dirty="0"/>
          </a:p>
        </p:txBody>
      </p:sp>
      <p:sp>
        <p:nvSpPr>
          <p:cNvPr id="41" name="Text 33"/>
          <p:cNvSpPr/>
          <p:nvPr/>
        </p:nvSpPr>
        <p:spPr>
          <a:xfrm>
            <a:off x="6851904"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A risk score is generated based on the checks.</a:t>
            </a:r>
            <a:endParaRPr lang="en-US" sz="900" dirty="0"/>
          </a:p>
        </p:txBody>
      </p:sp>
      <p:sp>
        <p:nvSpPr>
          <p:cNvPr id="42" name="Shape 34"/>
          <p:cNvSpPr/>
          <p:nvPr/>
        </p:nvSpPr>
        <p:spPr>
          <a:xfrm>
            <a:off x="9113520" y="2286000"/>
            <a:ext cx="804672" cy="804672"/>
          </a:xfrm>
          <a:prstGeom prst="ellipse">
            <a:avLst/>
          </a:prstGeom>
          <a:solidFill>
            <a:srgbClr val="0F2A5C"/>
          </a:solidFill>
          <a:ln/>
        </p:spPr>
      </p:sp>
      <p:pic>
        <p:nvPicPr>
          <p:cNvPr id="43" name="Image 6" descr="/home/claude/phishguard/icons/save.png"/>
          <p:cNvPicPr>
            <a:picLocks noChangeAspect="1"/>
          </p:cNvPicPr>
          <p:nvPr/>
        </p:nvPicPr>
        <p:blipFill>
          <a:blip r:embed="rId9"/>
          <a:stretch>
            <a:fillRect/>
          </a:stretch>
        </p:blipFill>
        <p:spPr>
          <a:xfrm>
            <a:off x="9296400" y="2468880"/>
            <a:ext cx="438912" cy="438912"/>
          </a:xfrm>
          <a:prstGeom prst="rect">
            <a:avLst/>
          </a:prstGeom>
        </p:spPr>
      </p:pic>
      <p:sp>
        <p:nvSpPr>
          <p:cNvPr id="44" name="Shape 35"/>
          <p:cNvSpPr/>
          <p:nvPr/>
        </p:nvSpPr>
        <p:spPr>
          <a:xfrm>
            <a:off x="9113520" y="2286000"/>
            <a:ext cx="804672" cy="804672"/>
          </a:xfrm>
          <a:prstGeom prst="ellipse">
            <a:avLst/>
          </a:prstGeom>
          <a:ln w="25400">
            <a:solidFill>
              <a:srgbClr val="00F5D4"/>
            </a:solidFill>
            <a:prstDash val="solid"/>
          </a:ln>
        </p:spPr>
      </p:sp>
      <p:sp>
        <p:nvSpPr>
          <p:cNvPr id="45" name="Shape 36"/>
          <p:cNvSpPr/>
          <p:nvPr/>
        </p:nvSpPr>
        <p:spPr>
          <a:xfrm>
            <a:off x="9680448" y="2139696"/>
            <a:ext cx="310896" cy="310896"/>
          </a:xfrm>
          <a:prstGeom prst="ellipse">
            <a:avLst/>
          </a:prstGeom>
          <a:solidFill>
            <a:srgbClr val="1B98E0"/>
          </a:solidFill>
          <a:ln w="19050">
            <a:solidFill>
              <a:srgbClr val="F4F8FC"/>
            </a:solidFill>
            <a:prstDash val="solid"/>
          </a:ln>
        </p:spPr>
      </p:sp>
      <p:sp>
        <p:nvSpPr>
          <p:cNvPr id="46" name="Text 37"/>
          <p:cNvSpPr/>
          <p:nvPr/>
        </p:nvSpPr>
        <p:spPr>
          <a:xfrm>
            <a:off x="9680448"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7" name="Text 38"/>
          <p:cNvSpPr/>
          <p:nvPr/>
        </p:nvSpPr>
        <p:spPr>
          <a:xfrm>
            <a:off x="8546592"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Stores History</a:t>
            </a:r>
            <a:endParaRPr lang="en-US" sz="1150" dirty="0"/>
          </a:p>
        </p:txBody>
      </p:sp>
      <p:sp>
        <p:nvSpPr>
          <p:cNvPr id="48" name="Text 39"/>
          <p:cNvSpPr/>
          <p:nvPr/>
        </p:nvSpPr>
        <p:spPr>
          <a:xfrm>
            <a:off x="8546592"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The scan result is saved for future reference.</a:t>
            </a:r>
            <a:endParaRPr lang="en-US" sz="900" dirty="0"/>
          </a:p>
        </p:txBody>
      </p:sp>
      <p:sp>
        <p:nvSpPr>
          <p:cNvPr id="49" name="Shape 40"/>
          <p:cNvSpPr/>
          <p:nvPr/>
        </p:nvSpPr>
        <p:spPr>
          <a:xfrm>
            <a:off x="10808208" y="2286000"/>
            <a:ext cx="804672" cy="804672"/>
          </a:xfrm>
          <a:prstGeom prst="ellipse">
            <a:avLst/>
          </a:prstGeom>
          <a:solidFill>
            <a:srgbClr val="0F2A5C"/>
          </a:solidFill>
          <a:ln/>
        </p:spPr>
      </p:sp>
      <p:pic>
        <p:nvPicPr>
          <p:cNvPr id="50" name="Image 7" descr="/home/claude/phishguard/icons/result.png"/>
          <p:cNvPicPr>
            <a:picLocks noChangeAspect="1"/>
          </p:cNvPicPr>
          <p:nvPr/>
        </p:nvPicPr>
        <p:blipFill>
          <a:blip r:embed="rId10"/>
          <a:stretch>
            <a:fillRect/>
          </a:stretch>
        </p:blipFill>
        <p:spPr>
          <a:xfrm>
            <a:off x="10991088" y="2468880"/>
            <a:ext cx="438912" cy="438912"/>
          </a:xfrm>
          <a:prstGeom prst="rect">
            <a:avLst/>
          </a:prstGeom>
        </p:spPr>
      </p:pic>
      <p:sp>
        <p:nvSpPr>
          <p:cNvPr id="51" name="Shape 41"/>
          <p:cNvSpPr/>
          <p:nvPr/>
        </p:nvSpPr>
        <p:spPr>
          <a:xfrm>
            <a:off x="10808208" y="2286000"/>
            <a:ext cx="804672" cy="804672"/>
          </a:xfrm>
          <a:prstGeom prst="ellipse">
            <a:avLst/>
          </a:prstGeom>
          <a:ln w="25400">
            <a:solidFill>
              <a:srgbClr val="00F5D4"/>
            </a:solidFill>
            <a:prstDash val="solid"/>
          </a:ln>
        </p:spPr>
      </p:sp>
      <p:sp>
        <p:nvSpPr>
          <p:cNvPr id="52" name="Shape 42"/>
          <p:cNvSpPr/>
          <p:nvPr/>
        </p:nvSpPr>
        <p:spPr>
          <a:xfrm>
            <a:off x="11375136" y="2139696"/>
            <a:ext cx="310896" cy="310896"/>
          </a:xfrm>
          <a:prstGeom prst="ellipse">
            <a:avLst/>
          </a:prstGeom>
          <a:solidFill>
            <a:srgbClr val="1B98E0"/>
          </a:solidFill>
          <a:ln w="19050">
            <a:solidFill>
              <a:srgbClr val="F4F8FC"/>
            </a:solidFill>
            <a:prstDash val="solid"/>
          </a:ln>
        </p:spPr>
      </p:sp>
      <p:sp>
        <p:nvSpPr>
          <p:cNvPr id="53" name="Text 43"/>
          <p:cNvSpPr/>
          <p:nvPr/>
        </p:nvSpPr>
        <p:spPr>
          <a:xfrm>
            <a:off x="11375136"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4" name="Text 44"/>
          <p:cNvSpPr/>
          <p:nvPr/>
        </p:nvSpPr>
        <p:spPr>
          <a:xfrm>
            <a:off x="10241280" y="3291840"/>
            <a:ext cx="1463040" cy="502920"/>
          </a:xfrm>
          <a:prstGeom prst="rect">
            <a:avLst/>
          </a:prstGeom>
          <a:noFill/>
          <a:ln/>
        </p:spPr>
        <p:txBody>
          <a:bodyPr wrap="square" lIns="0" tIns="0" rIns="0" bIns="0" rtlCol="0" anchor="t"/>
          <a:lstStyle/>
          <a:p>
            <a:pPr marL="0" indent="0" algn="ctr">
              <a:buNone/>
            </a:pPr>
            <a:r>
              <a:rPr lang="en-US" sz="1150" b="1" dirty="0">
                <a:solidFill>
                  <a:srgbClr val="0A1128"/>
                </a:solidFill>
                <a:latin typeface="Century Schoolbook" pitchFamily="34" charset="0"/>
                <a:ea typeface="Century Schoolbook" pitchFamily="34" charset="-122"/>
                <a:cs typeface="Century Schoolbook" pitchFamily="34" charset="-120"/>
              </a:rPr>
              <a:t>Displays Result</a:t>
            </a:r>
            <a:endParaRPr lang="en-US" sz="1150" dirty="0"/>
          </a:p>
        </p:txBody>
      </p:sp>
      <p:sp>
        <p:nvSpPr>
          <p:cNvPr id="55" name="Text 45"/>
          <p:cNvSpPr/>
          <p:nvPr/>
        </p:nvSpPr>
        <p:spPr>
          <a:xfrm>
            <a:off x="10241280" y="3767328"/>
            <a:ext cx="1463040" cy="822960"/>
          </a:xfrm>
          <a:prstGeom prst="rect">
            <a:avLst/>
          </a:prstGeom>
          <a:noFill/>
          <a:ln/>
        </p:spPr>
        <p:txBody>
          <a:bodyPr wrap="square" lIns="0" tIns="0" rIns="0" bIns="0" rtlCol="0" anchor="t"/>
          <a:lstStyle/>
          <a:p>
            <a:pPr marL="0" indent="0" algn="ctr">
              <a:lnSpc>
                <a:spcPct val="108000"/>
              </a:lnSpc>
              <a:buNone/>
            </a:pPr>
            <a:r>
              <a:rPr lang="en-US" sz="900" dirty="0">
                <a:solidFill>
                  <a:srgbClr val="51607A"/>
                </a:solidFill>
                <a:latin typeface="Calibri" pitchFamily="34" charset="0"/>
                <a:ea typeface="Calibri" pitchFamily="34" charset="-122"/>
                <a:cs typeface="Calibri" pitchFamily="34" charset="-120"/>
              </a:rPr>
              <a:t>Shows Safe, Suspicious, or Dangerous to the user.</a:t>
            </a:r>
            <a:endParaRPr lang="en-US" sz="900" dirty="0"/>
          </a:p>
        </p:txBody>
      </p:sp>
      <p:sp>
        <p:nvSpPr>
          <p:cNvPr id="56" name="Shape 46"/>
          <p:cNvSpPr/>
          <p:nvPr/>
        </p:nvSpPr>
        <p:spPr>
          <a:xfrm>
            <a:off x="548640" y="5257800"/>
            <a:ext cx="11094415" cy="868680"/>
          </a:xfrm>
          <a:prstGeom prst="roundRect">
            <a:avLst>
              <a:gd name="adj" fmla="val 10526"/>
            </a:avLst>
          </a:prstGeom>
          <a:solidFill>
            <a:srgbClr val="0A1128"/>
          </a:solidFill>
          <a:ln/>
        </p:spPr>
      </p:sp>
      <p:sp>
        <p:nvSpPr>
          <p:cNvPr id="57" name="Shape 47"/>
          <p:cNvSpPr/>
          <p:nvPr/>
        </p:nvSpPr>
        <p:spPr>
          <a:xfrm>
            <a:off x="777240" y="5436108"/>
            <a:ext cx="502920" cy="502920"/>
          </a:xfrm>
          <a:prstGeom prst="ellipse">
            <a:avLst/>
          </a:prstGeom>
          <a:solidFill>
            <a:srgbClr val="1B98E0"/>
          </a:solidFill>
          <a:ln/>
        </p:spPr>
      </p:sp>
      <p:pic>
        <p:nvPicPr>
          <p:cNvPr id="58" name="Image 8" descr="/home/claude/phishguard/icons/chart.png"/>
          <p:cNvPicPr>
            <a:picLocks noChangeAspect="1"/>
          </p:cNvPicPr>
          <p:nvPr/>
        </p:nvPicPr>
        <p:blipFill>
          <a:blip r:embed="rId11"/>
          <a:stretch>
            <a:fillRect/>
          </a:stretch>
        </p:blipFill>
        <p:spPr>
          <a:xfrm>
            <a:off x="896112" y="5554980"/>
            <a:ext cx="265176" cy="265176"/>
          </a:xfrm>
          <a:prstGeom prst="rect">
            <a:avLst/>
          </a:prstGeom>
        </p:spPr>
      </p:pic>
      <p:sp>
        <p:nvSpPr>
          <p:cNvPr id="59" name="Text 48"/>
          <p:cNvSpPr/>
          <p:nvPr/>
        </p:nvSpPr>
        <p:spPr>
          <a:xfrm>
            <a:off x="1463040" y="5257800"/>
            <a:ext cx="9966960" cy="868680"/>
          </a:xfrm>
          <a:prstGeom prst="rect">
            <a:avLst/>
          </a:prstGeom>
          <a:noFill/>
          <a:ln/>
        </p:spPr>
        <p:txBody>
          <a:bodyPr wrap="square" lIns="0" tIns="0" rIns="0" bIns="0" rtlCol="0" anchor="ctr"/>
          <a:lstStyle/>
          <a:p>
            <a:pPr marL="0" indent="0">
              <a:buNone/>
            </a:pPr>
            <a:r>
              <a:rPr lang="en-US" sz="1250" b="1" dirty="0">
                <a:solidFill>
                  <a:srgbClr val="00F5D4"/>
                </a:solidFill>
                <a:latin typeface="Calibri" pitchFamily="34" charset="0"/>
                <a:ea typeface="Calibri" pitchFamily="34" charset="-122"/>
                <a:cs typeface="Calibri" pitchFamily="34" charset="-120"/>
              </a:rPr>
              <a:t>Fast &amp; Automatic:  </a:t>
            </a:r>
            <a:r>
              <a:rPr lang="en-US" sz="1250" dirty="0">
                <a:solidFill>
                  <a:srgbClr val="FFFFFF"/>
                </a:solidFill>
                <a:latin typeface="Calibri" pitchFamily="34" charset="0"/>
                <a:ea typeface="Calibri" pitchFamily="34" charset="-122"/>
                <a:cs typeface="Calibri" pitchFamily="34" charset="-120"/>
              </a:rPr>
              <a:t>The entire scan — from URL entry to final result — completes in just a few seconds, with no manual work needed.</a:t>
            </a:r>
            <a:endParaRPr lang="en-US" sz="1250" dirty="0"/>
          </a:p>
        </p:txBody>
      </p:sp>
      <p:sp>
        <p:nvSpPr>
          <p:cNvPr id="60" name="Text 49"/>
          <p:cNvSpPr/>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1607A"/>
                </a:solidFill>
                <a:latin typeface="Calibri" pitchFamily="34" charset="0"/>
                <a:ea typeface="Calibri" pitchFamily="34" charset="-122"/>
                <a:cs typeface="Calibri" pitchFamily="34" charset="-120"/>
              </a:rPr>
              <a:t>PhishGuard  |  Phishing URL Detection System</a:t>
            </a:r>
            <a:endParaRPr lang="en-US" sz="900" dirty="0"/>
          </a:p>
        </p:txBody>
      </p:sp>
      <p:sp>
        <p:nvSpPr>
          <p:cNvPr id="61" name="Text 50"/>
          <p:cNvSpPr/>
          <p:nvPr/>
        </p:nvSpPr>
        <p:spPr>
          <a:xfrm>
            <a:off x="11430000" y="6547104"/>
            <a:ext cx="365760" cy="256032"/>
          </a:xfrm>
          <a:prstGeom prst="rect">
            <a:avLst/>
          </a:prstGeom>
          <a:noFill/>
          <a:ln/>
        </p:spPr>
        <p:txBody>
          <a:bodyPr wrap="square" lIns="0" tIns="0" rIns="0" bIns="0" rtlCol="0" anchor="ctr"/>
          <a:lstStyle/>
          <a:p>
            <a:pPr marL="0" indent="0" algn="r">
              <a:buNone/>
            </a:pPr>
            <a:r>
              <a:rPr lang="en-US" sz="900" dirty="0">
                <a:solidFill>
                  <a:srgbClr val="5160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a:effectLst/>
      </p:bgPr>
    </p:bg>
    <p:spTree>
      <p:nvGrpSpPr>
        <p:cNvPr id="1" name=""/>
        <p:cNvGrpSpPr/>
        <p:nvPr/>
      </p:nvGrpSpPr>
      <p:grpSpPr>
        <a:xfrm>
          <a:off x="0" y="0"/>
          <a:ext cx="0" cy="0"/>
          <a:chOff x="0" y="0"/>
          <a:chExt cx="0" cy="0"/>
        </a:xfrm>
      </p:grpSpPr>
      <p:pic>
        <p:nvPicPr>
          <p:cNvPr id="2" name="Image 0" descr="/home/claude/phishguard/icons/title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10972800" cy="365760"/>
          </a:xfrm>
          <a:prstGeom prst="rect">
            <a:avLst/>
          </a:prstGeom>
          <a:noFill/>
          <a:ln/>
        </p:spPr>
        <p:txBody>
          <a:bodyPr wrap="square" lIns="0" tIns="0" rIns="0" bIns="0" rtlCol="0" anchor="ctr"/>
          <a:lstStyle/>
          <a:p>
            <a:pPr marL="0" indent="0">
              <a:buNone/>
            </a:pPr>
            <a:r>
              <a:rPr lang="en-US" sz="1200" b="1" kern="0" spc="200" dirty="0">
                <a:solidFill>
                  <a:srgbClr val="00F5D4"/>
                </a:solidFill>
                <a:latin typeface="Calibri" pitchFamily="34" charset="0"/>
                <a:ea typeface="Calibri" pitchFamily="34" charset="-122"/>
                <a:cs typeface="Calibri" pitchFamily="34" charset="-120"/>
              </a:rPr>
              <a:t>CONCLUSION &amp; FUTURE SCOPE</a:t>
            </a:r>
            <a:endParaRPr lang="en-US" sz="1200" dirty="0"/>
          </a:p>
        </p:txBody>
      </p:sp>
      <p:sp>
        <p:nvSpPr>
          <p:cNvPr id="4" name="Text 1"/>
          <p:cNvSpPr/>
          <p:nvPr/>
        </p:nvSpPr>
        <p:spPr>
          <a:xfrm>
            <a:off x="548640" y="73152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entury Schoolbook" pitchFamily="34" charset="0"/>
                <a:ea typeface="Century Schoolbook" pitchFamily="34" charset="-122"/>
                <a:cs typeface="Century Schoolbook" pitchFamily="34" charset="-120"/>
              </a:rPr>
              <a:t>Wrapping Up PhishGuard</a:t>
            </a:r>
            <a:endParaRPr lang="en-US" sz="3000" dirty="0"/>
          </a:p>
        </p:txBody>
      </p:sp>
      <p:sp>
        <p:nvSpPr>
          <p:cNvPr id="5" name="Shape 2"/>
          <p:cNvSpPr/>
          <p:nvPr/>
        </p:nvSpPr>
        <p:spPr>
          <a:xfrm>
            <a:off x="548640" y="1691640"/>
            <a:ext cx="5212080" cy="3291840"/>
          </a:xfrm>
          <a:prstGeom prst="roundRect">
            <a:avLst>
              <a:gd name="adj" fmla="val 2778"/>
            </a:avLst>
          </a:prstGeom>
          <a:solidFill>
            <a:srgbClr val="0D1B3E">
              <a:alpha val="75000"/>
            </a:srgbClr>
          </a:solidFill>
          <a:ln w="12700">
            <a:solidFill>
              <a:srgbClr val="23407A"/>
            </a:solidFill>
            <a:prstDash val="solid"/>
          </a:ln>
        </p:spPr>
      </p:sp>
      <p:sp>
        <p:nvSpPr>
          <p:cNvPr id="6" name="Text 3"/>
          <p:cNvSpPr/>
          <p:nvPr/>
        </p:nvSpPr>
        <p:spPr>
          <a:xfrm>
            <a:off x="868680" y="1920240"/>
            <a:ext cx="4663440" cy="365760"/>
          </a:xfrm>
          <a:prstGeom prst="rect">
            <a:avLst/>
          </a:prstGeom>
          <a:noFill/>
          <a:ln/>
        </p:spPr>
        <p:txBody>
          <a:bodyPr wrap="square" lIns="0" tIns="0" rIns="0" bIns="0" rtlCol="0" anchor="ctr"/>
          <a:lstStyle/>
          <a:p>
            <a:pPr marL="0" indent="0">
              <a:buNone/>
            </a:pPr>
            <a:r>
              <a:rPr lang="en-US" sz="1700" b="1" dirty="0">
                <a:solidFill>
                  <a:srgbClr val="00F5D4"/>
                </a:solidFill>
                <a:latin typeface="Century Schoolbook" pitchFamily="34" charset="0"/>
                <a:ea typeface="Century Schoolbook" pitchFamily="34" charset="-122"/>
                <a:cs typeface="Century Schoolbook" pitchFamily="34" charset="-120"/>
              </a:rPr>
              <a:t>Conclusion</a:t>
            </a:r>
            <a:endParaRPr lang="en-US" sz="1700" dirty="0"/>
          </a:p>
        </p:txBody>
      </p:sp>
      <p:pic>
        <p:nvPicPr>
          <p:cNvPr id="7" name="Image 1" descr="/home/claude/phishguard/icons/check.png"/>
          <p:cNvPicPr>
            <a:picLocks noChangeAspect="1"/>
          </p:cNvPicPr>
          <p:nvPr/>
        </p:nvPicPr>
        <p:blipFill>
          <a:blip r:embed="rId4"/>
          <a:stretch>
            <a:fillRect/>
          </a:stretch>
        </p:blipFill>
        <p:spPr>
          <a:xfrm>
            <a:off x="868680" y="2468880"/>
            <a:ext cx="256032" cy="256032"/>
          </a:xfrm>
          <a:prstGeom prst="rect">
            <a:avLst/>
          </a:prstGeom>
        </p:spPr>
      </p:pic>
      <p:sp>
        <p:nvSpPr>
          <p:cNvPr id="8" name="Text 4"/>
          <p:cNvSpPr/>
          <p:nvPr/>
        </p:nvSpPr>
        <p:spPr>
          <a:xfrm>
            <a:off x="1234440" y="2423160"/>
            <a:ext cx="420624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Detects phishing URLs quickly</a:t>
            </a:r>
            <a:endParaRPr lang="en-US" sz="1350" dirty="0"/>
          </a:p>
        </p:txBody>
      </p:sp>
      <p:pic>
        <p:nvPicPr>
          <p:cNvPr id="9" name="Image 2" descr="/home/claude/phishguard/icons/check.png"/>
          <p:cNvPicPr>
            <a:picLocks noChangeAspect="1"/>
          </p:cNvPicPr>
          <p:nvPr/>
        </p:nvPicPr>
        <p:blipFill>
          <a:blip r:embed="rId4"/>
          <a:stretch>
            <a:fillRect/>
          </a:stretch>
        </p:blipFill>
        <p:spPr>
          <a:xfrm>
            <a:off x="868680" y="3063240"/>
            <a:ext cx="256032" cy="256032"/>
          </a:xfrm>
          <a:prstGeom prst="rect">
            <a:avLst/>
          </a:prstGeom>
        </p:spPr>
      </p:pic>
      <p:sp>
        <p:nvSpPr>
          <p:cNvPr id="10" name="Text 5"/>
          <p:cNvSpPr/>
          <p:nvPr/>
        </p:nvSpPr>
        <p:spPr>
          <a:xfrm>
            <a:off x="1234440" y="3017520"/>
            <a:ext cx="420624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Easy to use for everyone</a:t>
            </a:r>
            <a:endParaRPr lang="en-US" sz="1350" dirty="0"/>
          </a:p>
        </p:txBody>
      </p:sp>
      <p:pic>
        <p:nvPicPr>
          <p:cNvPr id="11" name="Image 3" descr="/home/claude/phishguard/icons/check.png"/>
          <p:cNvPicPr>
            <a:picLocks noChangeAspect="1"/>
          </p:cNvPicPr>
          <p:nvPr/>
        </p:nvPicPr>
        <p:blipFill>
          <a:blip r:embed="rId4"/>
          <a:stretch>
            <a:fillRect/>
          </a:stretch>
        </p:blipFill>
        <p:spPr>
          <a:xfrm>
            <a:off x="868680" y="3657600"/>
            <a:ext cx="256032" cy="256032"/>
          </a:xfrm>
          <a:prstGeom prst="rect">
            <a:avLst/>
          </a:prstGeom>
        </p:spPr>
      </p:pic>
      <p:sp>
        <p:nvSpPr>
          <p:cNvPr id="12" name="Text 6"/>
          <p:cNvSpPr/>
          <p:nvPr/>
        </p:nvSpPr>
        <p:spPr>
          <a:xfrm>
            <a:off x="1234440" y="3611880"/>
            <a:ext cx="420624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Provides a clear risk score</a:t>
            </a:r>
            <a:endParaRPr lang="en-US" sz="1350" dirty="0"/>
          </a:p>
        </p:txBody>
      </p:sp>
      <p:pic>
        <p:nvPicPr>
          <p:cNvPr id="13" name="Image 4" descr="/home/claude/phishguard/icons/check.png"/>
          <p:cNvPicPr>
            <a:picLocks noChangeAspect="1"/>
          </p:cNvPicPr>
          <p:nvPr/>
        </p:nvPicPr>
        <p:blipFill>
          <a:blip r:embed="rId4"/>
          <a:stretch>
            <a:fillRect/>
          </a:stretch>
        </p:blipFill>
        <p:spPr>
          <a:xfrm>
            <a:off x="868680" y="4251960"/>
            <a:ext cx="256032" cy="256032"/>
          </a:xfrm>
          <a:prstGeom prst="rect">
            <a:avLst/>
          </a:prstGeom>
        </p:spPr>
      </p:pic>
      <p:sp>
        <p:nvSpPr>
          <p:cNvPr id="14" name="Text 7"/>
          <p:cNvSpPr/>
          <p:nvPr/>
        </p:nvSpPr>
        <p:spPr>
          <a:xfrm>
            <a:off x="1234440" y="4206240"/>
            <a:ext cx="420624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Helps users stay safe online</a:t>
            </a:r>
            <a:endParaRPr lang="en-US" sz="1350" dirty="0"/>
          </a:p>
        </p:txBody>
      </p:sp>
      <p:sp>
        <p:nvSpPr>
          <p:cNvPr id="15" name="Shape 8"/>
          <p:cNvSpPr/>
          <p:nvPr/>
        </p:nvSpPr>
        <p:spPr>
          <a:xfrm>
            <a:off x="5989320" y="1691640"/>
            <a:ext cx="5212080" cy="3291840"/>
          </a:xfrm>
          <a:prstGeom prst="roundRect">
            <a:avLst>
              <a:gd name="adj" fmla="val 2778"/>
            </a:avLst>
          </a:prstGeom>
          <a:solidFill>
            <a:srgbClr val="0D1B3E">
              <a:alpha val="75000"/>
            </a:srgbClr>
          </a:solidFill>
          <a:ln w="12700">
            <a:solidFill>
              <a:srgbClr val="23407A"/>
            </a:solidFill>
            <a:prstDash val="solid"/>
          </a:ln>
        </p:spPr>
      </p:sp>
      <p:sp>
        <p:nvSpPr>
          <p:cNvPr id="16" name="Text 9"/>
          <p:cNvSpPr/>
          <p:nvPr/>
        </p:nvSpPr>
        <p:spPr>
          <a:xfrm>
            <a:off x="6309360" y="1920240"/>
            <a:ext cx="4663440" cy="365760"/>
          </a:xfrm>
          <a:prstGeom prst="rect">
            <a:avLst/>
          </a:prstGeom>
          <a:noFill/>
          <a:ln/>
        </p:spPr>
        <p:txBody>
          <a:bodyPr wrap="square" lIns="0" tIns="0" rIns="0" bIns="0" rtlCol="0" anchor="ctr"/>
          <a:lstStyle/>
          <a:p>
            <a:pPr marL="0" indent="0">
              <a:buNone/>
            </a:pPr>
            <a:r>
              <a:rPr lang="en-US" sz="1700" b="1" dirty="0">
                <a:solidFill>
                  <a:srgbClr val="1B98E0"/>
                </a:solidFill>
                <a:latin typeface="Century Schoolbook" pitchFamily="34" charset="0"/>
                <a:ea typeface="Century Schoolbook" pitchFamily="34" charset="-122"/>
                <a:cs typeface="Century Schoolbook" pitchFamily="34" charset="-120"/>
              </a:rPr>
              <a:t>Future Scope</a:t>
            </a:r>
            <a:endParaRPr lang="en-US" sz="1700" dirty="0"/>
          </a:p>
        </p:txBody>
      </p:sp>
      <p:pic>
        <p:nvPicPr>
          <p:cNvPr id="17" name="Image 5" descr="/home/claude/phishguard/icons/robot.png"/>
          <p:cNvPicPr>
            <a:picLocks noChangeAspect="1"/>
          </p:cNvPicPr>
          <p:nvPr/>
        </p:nvPicPr>
        <p:blipFill>
          <a:blip r:embed="rId5"/>
          <a:stretch>
            <a:fillRect/>
          </a:stretch>
        </p:blipFill>
        <p:spPr>
          <a:xfrm>
            <a:off x="6309360" y="2468880"/>
            <a:ext cx="256032" cy="256032"/>
          </a:xfrm>
          <a:prstGeom prst="rect">
            <a:avLst/>
          </a:prstGeom>
        </p:spPr>
      </p:pic>
      <p:sp>
        <p:nvSpPr>
          <p:cNvPr id="18" name="Text 10"/>
          <p:cNvSpPr/>
          <p:nvPr/>
        </p:nvSpPr>
        <p:spPr>
          <a:xfrm>
            <a:off x="6675120" y="2423160"/>
            <a:ext cx="4206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Machine Learning based detection</a:t>
            </a:r>
            <a:endParaRPr lang="en-US" sz="1300" dirty="0"/>
          </a:p>
        </p:txBody>
      </p:sp>
      <p:pic>
        <p:nvPicPr>
          <p:cNvPr id="19" name="Image 6" descr="/home/claude/phishguard/icons/chrome.png"/>
          <p:cNvPicPr>
            <a:picLocks noChangeAspect="1"/>
          </p:cNvPicPr>
          <p:nvPr/>
        </p:nvPicPr>
        <p:blipFill>
          <a:blip r:embed="rId6"/>
          <a:stretch>
            <a:fillRect/>
          </a:stretch>
        </p:blipFill>
        <p:spPr>
          <a:xfrm>
            <a:off x="6309360" y="2980944"/>
            <a:ext cx="256032" cy="256032"/>
          </a:xfrm>
          <a:prstGeom prst="rect">
            <a:avLst/>
          </a:prstGeom>
        </p:spPr>
      </p:pic>
      <p:sp>
        <p:nvSpPr>
          <p:cNvPr id="20" name="Text 11"/>
          <p:cNvSpPr/>
          <p:nvPr/>
        </p:nvSpPr>
        <p:spPr>
          <a:xfrm>
            <a:off x="6675120" y="2935224"/>
            <a:ext cx="4206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Browser Extension</a:t>
            </a:r>
            <a:endParaRPr lang="en-US" sz="1300" dirty="0"/>
          </a:p>
        </p:txBody>
      </p:sp>
      <p:pic>
        <p:nvPicPr>
          <p:cNvPr id="21" name="Image 7" descr="/home/claude/phishguard/icons/globe.png"/>
          <p:cNvPicPr>
            <a:picLocks noChangeAspect="1"/>
          </p:cNvPicPr>
          <p:nvPr/>
        </p:nvPicPr>
        <p:blipFill>
          <a:blip r:embed="rId7"/>
          <a:stretch>
            <a:fillRect/>
          </a:stretch>
        </p:blipFill>
        <p:spPr>
          <a:xfrm>
            <a:off x="6309360" y="3493008"/>
            <a:ext cx="256032" cy="256032"/>
          </a:xfrm>
          <a:prstGeom prst="rect">
            <a:avLst/>
          </a:prstGeom>
        </p:spPr>
      </p:pic>
      <p:sp>
        <p:nvSpPr>
          <p:cNvPr id="22" name="Text 12"/>
          <p:cNvSpPr/>
          <p:nvPr/>
        </p:nvSpPr>
        <p:spPr>
          <a:xfrm>
            <a:off x="6675120" y="3447288"/>
            <a:ext cx="4206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Real-time Threat Intelligence</a:t>
            </a:r>
            <a:endParaRPr lang="en-US" sz="1300" dirty="0"/>
          </a:p>
        </p:txBody>
      </p:sp>
      <p:pic>
        <p:nvPicPr>
          <p:cNvPr id="23" name="Image 8" descr="/home/claude/phishguard/icons/envelope.png"/>
          <p:cNvPicPr>
            <a:picLocks noChangeAspect="1"/>
          </p:cNvPicPr>
          <p:nvPr/>
        </p:nvPicPr>
        <p:blipFill>
          <a:blip r:embed="rId8"/>
          <a:stretch>
            <a:fillRect/>
          </a:stretch>
        </p:blipFill>
        <p:spPr>
          <a:xfrm>
            <a:off x="6309360" y="4005072"/>
            <a:ext cx="256032" cy="256032"/>
          </a:xfrm>
          <a:prstGeom prst="rect">
            <a:avLst/>
          </a:prstGeom>
        </p:spPr>
      </p:pic>
      <p:sp>
        <p:nvSpPr>
          <p:cNvPr id="24" name="Text 13"/>
          <p:cNvSpPr/>
          <p:nvPr/>
        </p:nvSpPr>
        <p:spPr>
          <a:xfrm>
            <a:off x="6675120" y="3959352"/>
            <a:ext cx="4206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Email Phishing Detection</a:t>
            </a:r>
            <a:endParaRPr lang="en-US" sz="1300" dirty="0"/>
          </a:p>
        </p:txBody>
      </p:sp>
      <p:pic>
        <p:nvPicPr>
          <p:cNvPr id="25" name="Image 9" descr="/home/claude/phishguard/icons/mobile.png"/>
          <p:cNvPicPr>
            <a:picLocks noChangeAspect="1"/>
          </p:cNvPicPr>
          <p:nvPr/>
        </p:nvPicPr>
        <p:blipFill>
          <a:blip r:embed="rId9"/>
          <a:stretch>
            <a:fillRect/>
          </a:stretch>
        </p:blipFill>
        <p:spPr>
          <a:xfrm>
            <a:off x="6309360" y="4517136"/>
            <a:ext cx="256032" cy="256032"/>
          </a:xfrm>
          <a:prstGeom prst="rect">
            <a:avLst/>
          </a:prstGeom>
        </p:spPr>
      </p:pic>
      <p:sp>
        <p:nvSpPr>
          <p:cNvPr id="26" name="Text 14"/>
          <p:cNvSpPr/>
          <p:nvPr/>
        </p:nvSpPr>
        <p:spPr>
          <a:xfrm>
            <a:off x="6675120" y="4471416"/>
            <a:ext cx="4206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Mobile App</a:t>
            </a:r>
            <a:endParaRPr lang="en-US" sz="1300" dirty="0"/>
          </a:p>
        </p:txBody>
      </p:sp>
      <p:sp>
        <p:nvSpPr>
          <p:cNvPr id="27" name="Text 15"/>
          <p:cNvSpPr/>
          <p:nvPr/>
        </p:nvSpPr>
        <p:spPr>
          <a:xfrm>
            <a:off x="548640" y="5257800"/>
            <a:ext cx="11091672"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entury Schoolbook" pitchFamily="34" charset="0"/>
                <a:ea typeface="Century Schoolbook" pitchFamily="34" charset="-122"/>
                <a:cs typeface="Century Schoolbook" pitchFamily="34" charset="-120"/>
              </a:rPr>
              <a:t>Thank You!</a:t>
            </a:r>
            <a:endParaRPr lang="en-US" sz="3000" dirty="0"/>
          </a:p>
        </p:txBody>
      </p:sp>
      <p:sp>
        <p:nvSpPr>
          <p:cNvPr id="28" name="Text 16"/>
          <p:cNvSpPr/>
          <p:nvPr/>
        </p:nvSpPr>
        <p:spPr>
          <a:xfrm>
            <a:off x="548640" y="5870448"/>
            <a:ext cx="11091672" cy="457200"/>
          </a:xfrm>
          <a:prstGeom prst="rect">
            <a:avLst/>
          </a:prstGeom>
          <a:noFill/>
          <a:ln/>
        </p:spPr>
        <p:txBody>
          <a:bodyPr wrap="square" lIns="0" tIns="0" rIns="0" bIns="0" rtlCol="0" anchor="ctr"/>
          <a:lstStyle/>
          <a:p>
            <a:pPr marL="0" indent="0" algn="ctr">
              <a:buNone/>
            </a:pPr>
            <a:r>
              <a:rPr lang="en-US" sz="1600" kern="0" spc="100" dirty="0">
                <a:solidFill>
                  <a:srgbClr val="00F5D4"/>
                </a:solidFill>
                <a:latin typeface="Calibri" pitchFamily="34" charset="0"/>
                <a:ea typeface="Calibri" pitchFamily="34" charset="-122"/>
                <a:cs typeface="Calibri" pitchFamily="34" charset="-120"/>
              </a:rPr>
              <a:t>Questions?</a:t>
            </a:r>
            <a:endParaRPr lang="en-US" sz="1600" dirty="0"/>
          </a:p>
        </p:txBody>
      </p:sp>
      <p:sp>
        <p:nvSpPr>
          <p:cNvPr id="29" name="Text 17"/>
          <p:cNvSpPr/>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7C93C4"/>
                </a:solidFill>
                <a:latin typeface="Calibri" pitchFamily="34" charset="0"/>
                <a:ea typeface="Calibri" pitchFamily="34" charset="-122"/>
                <a:cs typeface="Calibri" pitchFamily="34" charset="-120"/>
              </a:rPr>
              <a:t>PhishGuard  |  Phishing URL Detection System</a:t>
            </a:r>
            <a:endParaRPr lang="en-US" sz="900" dirty="0"/>
          </a:p>
        </p:txBody>
      </p:sp>
      <p:sp>
        <p:nvSpPr>
          <p:cNvPr id="30" name="Text 18"/>
          <p:cNvSpPr/>
          <p:nvPr/>
        </p:nvSpPr>
        <p:spPr>
          <a:xfrm>
            <a:off x="11430000" y="6547104"/>
            <a:ext cx="365760" cy="256032"/>
          </a:xfrm>
          <a:prstGeom prst="rect">
            <a:avLst/>
          </a:prstGeom>
          <a:noFill/>
          <a:ln/>
        </p:spPr>
        <p:txBody>
          <a:bodyPr wrap="square" lIns="0" tIns="0" rIns="0" bIns="0" rtlCol="0" anchor="ctr"/>
          <a:lstStyle/>
          <a:p>
            <a:pPr marL="0" indent="0" algn="r">
              <a:buNone/>
            </a:pPr>
            <a:r>
              <a:rPr lang="en-US" sz="900" dirty="0">
                <a:solidFill>
                  <a:srgbClr val="7C93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1087</Words>
  <Application>Microsoft Office PowerPoint</Application>
  <PresentationFormat>Widescreen</PresentationFormat>
  <Paragraphs>120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 - Phishing URL Detection System</dc:title>
  <dc:subject>PptxGenJS Presentation</dc:subject>
  <dc:creator>PhishGuard Team</dc:creator>
  <cp:lastModifiedBy>Pratham Patel</cp:lastModifiedBy>
  <cp:revision>1</cp:revision>
  <dcterms:created xsi:type="dcterms:W3CDTF">2026-08-07T10:15:02Z</dcterms:created>
  <dcterms:modified xsi:type="dcterms:W3CDTF">2026-08-07T13:40:51Z</dcterms:modified>
</cp:coreProperties>
</file>